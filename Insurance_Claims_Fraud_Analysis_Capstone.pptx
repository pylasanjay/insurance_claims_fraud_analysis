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703320" cy="6858000"/>
          </a:xfrm>
          <a:prstGeom prst="rect">
            <a:avLst/>
          </a:prstGeom>
          <a:solidFill>
            <a:srgbClr val="3F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05840"/>
            <a:ext cx="2743200" cy="1371600"/>
          </a:xfrm>
          <a:prstGeom prst="rect">
            <a:avLst/>
          </a:prstGeom>
          <a:noFill/>
        </p:spPr>
        <p:txBody>
          <a:bodyPr wrap="none">
            <a:spAutoFit/>
          </a:bodyPr>
          <a:lstStyle/>
          <a:p>
            <a:pPr algn="ctr"/>
            <a:r>
              <a:rPr sz="2500" b="1">
                <a:solidFill>
                  <a:srgbClr val="FFFFFF"/>
                </a:solidFill>
                <a:latin typeface="Aptos Display"/>
              </a:rPr>
              <a:t>INSURANCE
ANALYTICS</a:t>
            </a:r>
          </a:p>
        </p:txBody>
      </p:sp>
      <p:sp>
        <p:nvSpPr>
          <p:cNvPr id="5" name="TextBox 4"/>
          <p:cNvSpPr txBox="1"/>
          <p:nvPr/>
        </p:nvSpPr>
        <p:spPr>
          <a:xfrm>
            <a:off x="4251960" y="1097280"/>
            <a:ext cx="7315200" cy="1463040"/>
          </a:xfrm>
          <a:prstGeom prst="rect">
            <a:avLst/>
          </a:prstGeom>
          <a:noFill/>
        </p:spPr>
        <p:txBody>
          <a:bodyPr wrap="none">
            <a:spAutoFit/>
          </a:bodyPr>
          <a:lstStyle/>
          <a:p>
            <a:r>
              <a:rPr sz="3600" b="1">
                <a:solidFill>
                  <a:srgbClr val="183A8A"/>
                </a:solidFill>
                <a:latin typeface="Aptos Display"/>
              </a:rPr>
              <a:t>Insurance Claims &amp;
Fraud Analysis</a:t>
            </a:r>
          </a:p>
        </p:txBody>
      </p:sp>
      <p:sp>
        <p:nvSpPr>
          <p:cNvPr id="6" name="TextBox 5"/>
          <p:cNvSpPr txBox="1"/>
          <p:nvPr/>
        </p:nvSpPr>
        <p:spPr>
          <a:xfrm>
            <a:off x="4279392" y="2743200"/>
            <a:ext cx="7040880" cy="731520"/>
          </a:xfrm>
          <a:prstGeom prst="rect">
            <a:avLst/>
          </a:prstGeom>
          <a:noFill/>
        </p:spPr>
        <p:txBody>
          <a:bodyPr wrap="none">
            <a:spAutoFit/>
          </a:bodyPr>
          <a:lstStyle/>
          <a:p>
            <a:r>
              <a:rPr sz="2000" b="1">
                <a:solidFill>
                  <a:srgbClr val="5B56A6"/>
                </a:solidFill>
              </a:rPr>
              <a:t>SQL + Power BI Capstone Project</a:t>
            </a:r>
          </a:p>
        </p:txBody>
      </p:sp>
      <p:sp>
        <p:nvSpPr>
          <p:cNvPr id="7" name="TextBox 6"/>
          <p:cNvSpPr txBox="1"/>
          <p:nvPr/>
        </p:nvSpPr>
        <p:spPr>
          <a:xfrm>
            <a:off x="4279392" y="3429000"/>
            <a:ext cx="6858000" cy="1097280"/>
          </a:xfrm>
          <a:prstGeom prst="rect">
            <a:avLst/>
          </a:prstGeom>
          <a:noFill/>
        </p:spPr>
        <p:txBody>
          <a:bodyPr wrap="none">
            <a:spAutoFit/>
          </a:bodyPr>
          <a:lstStyle/>
          <a:p>
            <a:r>
              <a:rPr sz="1500">
                <a:solidFill>
                  <a:srgbClr val="23262D"/>
                </a:solidFill>
              </a:rPr>
              <a:t>Analyze claims • Identify risk patterns • Monitor fraud indicators • Support better decisions</a:t>
            </a:r>
          </a:p>
        </p:txBody>
      </p:sp>
      <p:sp>
        <p:nvSpPr>
          <p:cNvPr id="8" name="Rounded Rectangle 7"/>
          <p:cNvSpPr/>
          <p:nvPr/>
        </p:nvSpPr>
        <p:spPr>
          <a:xfrm>
            <a:off x="4279392" y="4800600"/>
            <a:ext cx="4389120" cy="502920"/>
          </a:xfrm>
          <a:prstGeom prst="roundRect">
            <a:avLst/>
          </a:prstGeom>
          <a:solidFill>
            <a:srgbClr val="FFFFFF"/>
          </a:solidFill>
          <a:ln>
            <a:solidFill>
              <a:srgbClr val="E0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80560" y="4901184"/>
            <a:ext cx="4023360" cy="228600"/>
          </a:xfrm>
          <a:prstGeom prst="rect">
            <a:avLst/>
          </a:prstGeom>
          <a:noFill/>
        </p:spPr>
        <p:txBody>
          <a:bodyPr wrap="none">
            <a:spAutoFit/>
          </a:bodyPr>
          <a:lstStyle/>
          <a:p>
            <a:r>
              <a:rPr sz="1100" b="1">
                <a:solidFill>
                  <a:srgbClr val="3F3B8F"/>
                </a:solidFill>
              </a:rPr>
              <a:t>Portfolio / Academic Capstone</a:t>
            </a:r>
          </a:p>
        </p:txBody>
      </p:sp>
      <p:sp>
        <p:nvSpPr>
          <p:cNvPr id="10" name="Rectangle 9"/>
          <p:cNvSpPr/>
          <p:nvPr/>
        </p:nvSpPr>
        <p:spPr>
          <a:xfrm>
            <a:off x="594360" y="6510528"/>
            <a:ext cx="10972800" cy="9144"/>
          </a:xfrm>
          <a:prstGeom prst="rect">
            <a:avLst/>
          </a:prstGeom>
          <a:solidFill>
            <a:srgbClr val="E0E4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 y="6547104"/>
            <a:ext cx="9144000" cy="182880"/>
          </a:xfrm>
          <a:prstGeom prst="rect">
            <a:avLst/>
          </a:prstGeom>
          <a:noFill/>
        </p:spPr>
        <p:txBody>
          <a:bodyPr wrap="none">
            <a:spAutoFit/>
          </a:bodyPr>
          <a:lstStyle/>
          <a:p>
            <a:r>
              <a:rPr sz="800">
                <a:solidFill>
                  <a:srgbClr val="5C626E"/>
                </a:solidFill>
              </a:rPr>
              <a:t>Insurance Claims &amp; Fraud Analysis | Capstone Project</a:t>
            </a:r>
          </a:p>
        </p:txBody>
      </p:sp>
      <p:sp>
        <p:nvSpPr>
          <p:cNvPr id="12" name="TextBox 11"/>
          <p:cNvSpPr txBox="1"/>
          <p:nvPr/>
        </p:nvSpPr>
        <p:spPr>
          <a:xfrm>
            <a:off x="11155680" y="6519672"/>
            <a:ext cx="365760" cy="182880"/>
          </a:xfrm>
          <a:prstGeom prst="rect">
            <a:avLst/>
          </a:prstGeom>
          <a:noFill/>
        </p:spPr>
        <p:txBody>
          <a:bodyPr wrap="none">
            <a:spAutoFit/>
          </a:bodyPr>
          <a:lstStyle/>
          <a:p>
            <a:pPr algn="r"/>
            <a:r>
              <a:rPr sz="800">
                <a:solidFill>
                  <a:srgbClr val="5C626E"/>
                </a:solidFill>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594360"/>
          </a:xfrm>
          <a:prstGeom prst="rect">
            <a:avLst/>
          </a:prstGeom>
          <a:noFill/>
        </p:spPr>
        <p:txBody>
          <a:bodyPr wrap="none">
            <a:spAutoFit/>
          </a:bodyPr>
          <a:lstStyle/>
          <a:p>
            <a:r>
              <a:rPr sz="2500" b="1">
                <a:solidFill>
                  <a:srgbClr val="183A8A"/>
                </a:solidFill>
                <a:latin typeface="Aptos Display"/>
              </a:rPr>
              <a:t>1. Project Overview</a:t>
            </a:r>
          </a:p>
        </p:txBody>
      </p:sp>
      <p:sp>
        <p:nvSpPr>
          <p:cNvPr id="4" name="TextBox 3"/>
          <p:cNvSpPr txBox="1"/>
          <p:nvPr/>
        </p:nvSpPr>
        <p:spPr>
          <a:xfrm>
            <a:off x="612648" y="896112"/>
            <a:ext cx="10789920" cy="320040"/>
          </a:xfrm>
          <a:prstGeom prst="rect">
            <a:avLst/>
          </a:prstGeom>
          <a:noFill/>
        </p:spPr>
        <p:txBody>
          <a:bodyPr wrap="none">
            <a:spAutoFit/>
          </a:bodyPr>
          <a:lstStyle/>
          <a:p>
            <a:r>
              <a:rPr sz="1050">
                <a:solidFill>
                  <a:srgbClr val="5C626E"/>
                </a:solidFill>
                <a:latin typeface="Aptos"/>
              </a:rPr>
              <a:t>What the project is, why it matters, and what the final solution delivers</a:t>
            </a:r>
          </a:p>
        </p:txBody>
      </p:sp>
      <p:sp>
        <p:nvSpPr>
          <p:cNvPr id="5" name="Rounded Rectangle 4"/>
          <p:cNvSpPr/>
          <p:nvPr/>
        </p:nvSpPr>
        <p:spPr>
          <a:xfrm>
            <a:off x="640080" y="1325880"/>
            <a:ext cx="3474720" cy="1828800"/>
          </a:xfrm>
          <a:prstGeom prst="roundRect">
            <a:avLst/>
          </a:prstGeom>
          <a:solidFill>
            <a:srgbClr val="FFFFFF"/>
          </a:solidFill>
          <a:ln w="15240">
            <a:solidFill>
              <a:srgbClr val="E0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325880"/>
            <a:ext cx="64008" cy="1828800"/>
          </a:xfrm>
          <a:prstGeom prst="rect">
            <a:avLst/>
          </a:prstGeom>
          <a:solidFill>
            <a:srgbClr val="5B5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1247" y="1472184"/>
            <a:ext cx="3154679" cy="365760"/>
          </a:xfrm>
          <a:prstGeom prst="rect">
            <a:avLst/>
          </a:prstGeom>
          <a:noFill/>
        </p:spPr>
        <p:txBody>
          <a:bodyPr wrap="none">
            <a:spAutoFit/>
          </a:bodyPr>
          <a:lstStyle/>
          <a:p>
            <a:r>
              <a:rPr sz="1500" b="1">
                <a:solidFill>
                  <a:srgbClr val="183A8A"/>
                </a:solidFill>
                <a:latin typeface="Aptos"/>
              </a:rPr>
              <a:t>What is the project?</a:t>
            </a:r>
          </a:p>
        </p:txBody>
      </p:sp>
      <p:sp>
        <p:nvSpPr>
          <p:cNvPr id="8" name="TextBox 7"/>
          <p:cNvSpPr txBox="1"/>
          <p:nvPr/>
        </p:nvSpPr>
        <p:spPr>
          <a:xfrm>
            <a:off x="841247" y="1892807"/>
            <a:ext cx="3154679" cy="1143000"/>
          </a:xfrm>
          <a:prstGeom prst="rect">
            <a:avLst/>
          </a:prstGeom>
          <a:noFill/>
        </p:spPr>
        <p:txBody>
          <a:bodyPr wrap="square">
            <a:spAutoFit/>
          </a:bodyPr>
          <a:lstStyle/>
          <a:p>
            <a:pPr>
              <a:defRPr sz="1150">
                <a:solidFill>
                  <a:srgbClr val="23262D"/>
                </a:solidFill>
                <a:latin typeface="Aptos"/>
              </a:defRPr>
            </a:pPr>
            <a:r>
              <a:t>An analytics solution for insurance claims that combines SQL-based data analysis with interactive Power BI dashboards to understand claim volume, claim value, risk scores, fraud flags, status, type, region and demographics.</a:t>
            </a:r>
          </a:p>
        </p:txBody>
      </p:sp>
      <p:sp>
        <p:nvSpPr>
          <p:cNvPr id="9" name="Rounded Rectangle 8"/>
          <p:cNvSpPr/>
          <p:nvPr/>
        </p:nvSpPr>
        <p:spPr>
          <a:xfrm>
            <a:off x="4343400" y="1325880"/>
            <a:ext cx="3474720" cy="1828800"/>
          </a:xfrm>
          <a:prstGeom prst="roundRect">
            <a:avLst/>
          </a:prstGeom>
          <a:solidFill>
            <a:srgbClr val="FFFFFF"/>
          </a:solidFill>
          <a:ln w="15240">
            <a:solidFill>
              <a:srgbClr val="E0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43400" y="1325880"/>
            <a:ext cx="64008" cy="182880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44568" y="1472184"/>
            <a:ext cx="3154679" cy="365760"/>
          </a:xfrm>
          <a:prstGeom prst="rect">
            <a:avLst/>
          </a:prstGeom>
          <a:noFill/>
        </p:spPr>
        <p:txBody>
          <a:bodyPr wrap="none">
            <a:spAutoFit/>
          </a:bodyPr>
          <a:lstStyle/>
          <a:p>
            <a:r>
              <a:rPr sz="1500" b="1">
                <a:solidFill>
                  <a:srgbClr val="183A8A"/>
                </a:solidFill>
                <a:latin typeface="Aptos"/>
              </a:rPr>
              <a:t>Business problem</a:t>
            </a:r>
          </a:p>
        </p:txBody>
      </p:sp>
      <p:sp>
        <p:nvSpPr>
          <p:cNvPr id="12" name="TextBox 11"/>
          <p:cNvSpPr txBox="1"/>
          <p:nvPr/>
        </p:nvSpPr>
        <p:spPr>
          <a:xfrm>
            <a:off x="4544568" y="1892807"/>
            <a:ext cx="3154679" cy="1143000"/>
          </a:xfrm>
          <a:prstGeom prst="rect">
            <a:avLst/>
          </a:prstGeom>
          <a:noFill/>
        </p:spPr>
        <p:txBody>
          <a:bodyPr wrap="square">
            <a:spAutoFit/>
          </a:bodyPr>
          <a:lstStyle/>
          <a:p>
            <a:pPr>
              <a:defRPr sz="1150">
                <a:solidFill>
                  <a:srgbClr val="23262D"/>
                </a:solidFill>
                <a:latin typeface="Aptos"/>
              </a:defRPr>
            </a:pPr>
            <a:r>
              <a:t>Insurance teams handle large numbers of claims. Suspicious patterns can be difficult to spot manually, while delays and inconsistent review can increase cost, leakage and operational workload.</a:t>
            </a:r>
          </a:p>
        </p:txBody>
      </p:sp>
      <p:sp>
        <p:nvSpPr>
          <p:cNvPr id="13" name="Rounded Rectangle 12"/>
          <p:cNvSpPr/>
          <p:nvPr/>
        </p:nvSpPr>
        <p:spPr>
          <a:xfrm>
            <a:off x="8046720" y="1325880"/>
            <a:ext cx="3474720" cy="1828800"/>
          </a:xfrm>
          <a:prstGeom prst="roundRect">
            <a:avLst/>
          </a:prstGeom>
          <a:solidFill>
            <a:srgbClr val="FFFFFF"/>
          </a:solidFill>
          <a:ln w="15240">
            <a:solidFill>
              <a:srgbClr val="E0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46720" y="1325880"/>
            <a:ext cx="64008" cy="1828800"/>
          </a:xfrm>
          <a:prstGeom prst="rect">
            <a:avLst/>
          </a:prstGeom>
          <a:solidFill>
            <a:srgbClr val="16A0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47888" y="1472184"/>
            <a:ext cx="3154679" cy="365760"/>
          </a:xfrm>
          <a:prstGeom prst="rect">
            <a:avLst/>
          </a:prstGeom>
          <a:noFill/>
        </p:spPr>
        <p:txBody>
          <a:bodyPr wrap="none">
            <a:spAutoFit/>
          </a:bodyPr>
          <a:lstStyle/>
          <a:p>
            <a:r>
              <a:rPr sz="1500" b="1">
                <a:solidFill>
                  <a:srgbClr val="183A8A"/>
                </a:solidFill>
                <a:latin typeface="Aptos"/>
              </a:rPr>
              <a:t>Final output</a:t>
            </a:r>
          </a:p>
        </p:txBody>
      </p:sp>
      <p:sp>
        <p:nvSpPr>
          <p:cNvPr id="16" name="TextBox 15"/>
          <p:cNvSpPr txBox="1"/>
          <p:nvPr/>
        </p:nvSpPr>
        <p:spPr>
          <a:xfrm>
            <a:off x="8247888" y="1892807"/>
            <a:ext cx="3154679" cy="1143000"/>
          </a:xfrm>
          <a:prstGeom prst="rect">
            <a:avLst/>
          </a:prstGeom>
          <a:noFill/>
        </p:spPr>
        <p:txBody>
          <a:bodyPr wrap="square">
            <a:spAutoFit/>
          </a:bodyPr>
          <a:lstStyle/>
          <a:p>
            <a:pPr>
              <a:defRPr sz="1150">
                <a:solidFill>
                  <a:srgbClr val="23262D"/>
                </a:solidFill>
                <a:latin typeface="Aptos"/>
              </a:defRPr>
            </a:pPr>
            <a:r>
              <a:t>A decision-support dashboard with an Executive Dashboard and Risk Analysis page, supported by reusable SQL queries, views and stored procedures.</a:t>
            </a:r>
          </a:p>
        </p:txBody>
      </p:sp>
      <p:sp>
        <p:nvSpPr>
          <p:cNvPr id="17" name="Rounded Rectangle 16"/>
          <p:cNvSpPr/>
          <p:nvPr/>
        </p:nvSpPr>
        <p:spPr>
          <a:xfrm>
            <a:off x="640080" y="3474720"/>
            <a:ext cx="5349240" cy="2057400"/>
          </a:xfrm>
          <a:prstGeom prst="roundRect">
            <a:avLst/>
          </a:prstGeom>
          <a:solidFill>
            <a:srgbClr val="FFFFFF"/>
          </a:solidFill>
          <a:ln w="15240">
            <a:solidFill>
              <a:srgbClr val="E0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40080" y="3474720"/>
            <a:ext cx="64008" cy="2057400"/>
          </a:xfrm>
          <a:prstGeom prst="rect">
            <a:avLst/>
          </a:prstGeom>
          <a:solidFill>
            <a:srgbClr val="3498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41247" y="3621024"/>
            <a:ext cx="5029200" cy="365760"/>
          </a:xfrm>
          <a:prstGeom prst="rect">
            <a:avLst/>
          </a:prstGeom>
          <a:noFill/>
        </p:spPr>
        <p:txBody>
          <a:bodyPr wrap="none">
            <a:spAutoFit/>
          </a:bodyPr>
          <a:lstStyle/>
          <a:p>
            <a:r>
              <a:rPr sz="1500" b="1">
                <a:solidFill>
                  <a:srgbClr val="183A8A"/>
                </a:solidFill>
                <a:latin typeface="Aptos"/>
              </a:rPr>
              <a:t>End-to-end flow</a:t>
            </a:r>
          </a:p>
        </p:txBody>
      </p:sp>
      <p:sp>
        <p:nvSpPr>
          <p:cNvPr id="20" name="TextBox 19"/>
          <p:cNvSpPr txBox="1"/>
          <p:nvPr/>
        </p:nvSpPr>
        <p:spPr>
          <a:xfrm>
            <a:off x="841247" y="4041648"/>
            <a:ext cx="5029200" cy="1371600"/>
          </a:xfrm>
          <a:prstGeom prst="rect">
            <a:avLst/>
          </a:prstGeom>
          <a:noFill/>
        </p:spPr>
        <p:txBody>
          <a:bodyPr wrap="square">
            <a:spAutoFit/>
          </a:bodyPr>
          <a:lstStyle/>
          <a:p>
            <a:pPr>
              <a:defRPr sz="1300">
                <a:solidFill>
                  <a:srgbClr val="23262D"/>
                </a:solidFill>
                <a:latin typeface="Aptos"/>
              </a:defRPr>
            </a:pPr>
            <a:r>
              <a:t>Data → Data dictionary → SQL exploration → Aggregation &amp; risk analysis → Power BI modeling/visuals → Interactive dashboard → Business insights</a:t>
            </a:r>
          </a:p>
        </p:txBody>
      </p:sp>
      <p:sp>
        <p:nvSpPr>
          <p:cNvPr id="21" name="Rounded Rectangle 20"/>
          <p:cNvSpPr/>
          <p:nvPr/>
        </p:nvSpPr>
        <p:spPr>
          <a:xfrm>
            <a:off x="6172200" y="3474720"/>
            <a:ext cx="5349240" cy="2057400"/>
          </a:xfrm>
          <a:prstGeom prst="roundRect">
            <a:avLst/>
          </a:prstGeom>
          <a:solidFill>
            <a:srgbClr val="FFFFFF"/>
          </a:solidFill>
          <a:ln w="15240">
            <a:solidFill>
              <a:srgbClr val="E0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72200" y="3474720"/>
            <a:ext cx="64008" cy="2057400"/>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73368" y="3621024"/>
            <a:ext cx="5029200" cy="365760"/>
          </a:xfrm>
          <a:prstGeom prst="rect">
            <a:avLst/>
          </a:prstGeom>
          <a:noFill/>
        </p:spPr>
        <p:txBody>
          <a:bodyPr wrap="none">
            <a:spAutoFit/>
          </a:bodyPr>
          <a:lstStyle/>
          <a:p>
            <a:r>
              <a:rPr sz="1500" b="1">
                <a:solidFill>
                  <a:srgbClr val="183A8A"/>
                </a:solidFill>
                <a:latin typeface="Aptos"/>
              </a:rPr>
              <a:t>Important terminology</a:t>
            </a:r>
          </a:p>
        </p:txBody>
      </p:sp>
      <p:sp>
        <p:nvSpPr>
          <p:cNvPr id="24" name="TextBox 23"/>
          <p:cNvSpPr txBox="1"/>
          <p:nvPr/>
        </p:nvSpPr>
        <p:spPr>
          <a:xfrm>
            <a:off x="6373368" y="4041648"/>
            <a:ext cx="5029200" cy="1371600"/>
          </a:xfrm>
          <a:prstGeom prst="rect">
            <a:avLst/>
          </a:prstGeom>
          <a:noFill/>
        </p:spPr>
        <p:txBody>
          <a:bodyPr wrap="square">
            <a:spAutoFit/>
          </a:bodyPr>
          <a:lstStyle/>
          <a:p>
            <a:pPr>
              <a:defRPr sz="1300">
                <a:solidFill>
                  <a:srgbClr val="23262D"/>
                </a:solidFill>
                <a:latin typeface="Aptos"/>
              </a:defRPr>
            </a:pPr>
            <a:r>
              <a:t>“Fraud claims” in this project means claims flagged as fraudulent according to the Fraud_Flag field. The dashboard supports investigation; it does not independently prove fraud.</a:t>
            </a:r>
          </a:p>
        </p:txBody>
      </p:sp>
      <p:sp>
        <p:nvSpPr>
          <p:cNvPr id="25" name="Rectangle 24"/>
          <p:cNvSpPr/>
          <p:nvPr/>
        </p:nvSpPr>
        <p:spPr>
          <a:xfrm>
            <a:off x="594360" y="6510528"/>
            <a:ext cx="10972800" cy="9144"/>
          </a:xfrm>
          <a:prstGeom prst="rect">
            <a:avLst/>
          </a:prstGeom>
          <a:solidFill>
            <a:srgbClr val="E0E4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1792" y="6547104"/>
            <a:ext cx="9144000" cy="182880"/>
          </a:xfrm>
          <a:prstGeom prst="rect">
            <a:avLst/>
          </a:prstGeom>
          <a:noFill/>
        </p:spPr>
        <p:txBody>
          <a:bodyPr wrap="none">
            <a:spAutoFit/>
          </a:bodyPr>
          <a:lstStyle/>
          <a:p>
            <a:r>
              <a:rPr sz="800">
                <a:solidFill>
                  <a:srgbClr val="5C626E"/>
                </a:solidFill>
              </a:rPr>
              <a:t>Insurance Claims &amp; Fraud Analysis | Capstone Project</a:t>
            </a:r>
          </a:p>
        </p:txBody>
      </p:sp>
      <p:sp>
        <p:nvSpPr>
          <p:cNvPr id="27" name="TextBox 26"/>
          <p:cNvSpPr txBox="1"/>
          <p:nvPr/>
        </p:nvSpPr>
        <p:spPr>
          <a:xfrm>
            <a:off x="11155680" y="6519672"/>
            <a:ext cx="365760" cy="182880"/>
          </a:xfrm>
          <a:prstGeom prst="rect">
            <a:avLst/>
          </a:prstGeom>
          <a:noFill/>
        </p:spPr>
        <p:txBody>
          <a:bodyPr wrap="none">
            <a:spAutoFit/>
          </a:bodyPr>
          <a:lstStyle/>
          <a:p>
            <a:pPr algn="r"/>
            <a:r>
              <a:rPr sz="800">
                <a:solidFill>
                  <a:srgbClr val="5C626E"/>
                </a:solidFill>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594360"/>
          </a:xfrm>
          <a:prstGeom prst="rect">
            <a:avLst/>
          </a:prstGeom>
          <a:noFill/>
        </p:spPr>
        <p:txBody>
          <a:bodyPr wrap="none">
            <a:spAutoFit/>
          </a:bodyPr>
          <a:lstStyle/>
          <a:p>
            <a:r>
              <a:rPr sz="2500" b="1">
                <a:solidFill>
                  <a:srgbClr val="183A8A"/>
                </a:solidFill>
                <a:latin typeface="Aptos Display"/>
              </a:rPr>
              <a:t>2. Objectives &amp; Scope</a:t>
            </a:r>
          </a:p>
        </p:txBody>
      </p:sp>
      <p:sp>
        <p:nvSpPr>
          <p:cNvPr id="4" name="TextBox 3"/>
          <p:cNvSpPr txBox="1"/>
          <p:nvPr/>
        </p:nvSpPr>
        <p:spPr>
          <a:xfrm>
            <a:off x="612648" y="896112"/>
            <a:ext cx="10789920" cy="320040"/>
          </a:xfrm>
          <a:prstGeom prst="rect">
            <a:avLst/>
          </a:prstGeom>
          <a:noFill/>
        </p:spPr>
        <p:txBody>
          <a:bodyPr wrap="none">
            <a:spAutoFit/>
          </a:bodyPr>
          <a:lstStyle/>
          <a:p>
            <a:r>
              <a:rPr sz="1050">
                <a:solidFill>
                  <a:srgbClr val="5C626E"/>
                </a:solidFill>
                <a:latin typeface="Aptos"/>
              </a:rPr>
              <a:t>The questions the project is designed to answer</a:t>
            </a:r>
          </a:p>
        </p:txBody>
      </p:sp>
      <p:sp>
        <p:nvSpPr>
          <p:cNvPr id="5" name="TextBox 4"/>
          <p:cNvSpPr txBox="1"/>
          <p:nvPr/>
        </p:nvSpPr>
        <p:spPr>
          <a:xfrm>
            <a:off x="822960" y="1325880"/>
            <a:ext cx="5577840" cy="4572000"/>
          </a:xfrm>
          <a:prstGeom prst="rect">
            <a:avLst/>
          </a:prstGeom>
          <a:noFill/>
        </p:spPr>
        <p:txBody>
          <a:bodyPr wrap="square" lIns="36576" rIns="27432">
            <a:spAutoFit/>
          </a:bodyPr>
          <a:lstStyle/>
          <a:p>
            <a:pPr>
              <a:spcAft>
                <a:spcPts val="700"/>
              </a:spcAft>
              <a:defRPr sz="1500" b="0">
                <a:solidFill>
                  <a:srgbClr val="23262D"/>
                </a:solidFill>
                <a:latin typeface="Aptos"/>
              </a:defRPr>
            </a:pPr>
            <a:r>
              <a:t>Measure total claim volume and total claim amount.</a:t>
            </a:r>
          </a:p>
          <a:p>
            <a:pPr>
              <a:spcAft>
                <a:spcPts val="700"/>
              </a:spcAft>
              <a:defRPr sz="1500" b="0">
                <a:solidFill>
                  <a:srgbClr val="23262D"/>
                </a:solidFill>
                <a:latin typeface="Aptos"/>
              </a:defRPr>
            </a:pPr>
            <a:r>
              <a:t>Compare fraud-flagged vs non-fraud-flagged claims.</a:t>
            </a:r>
          </a:p>
          <a:p>
            <a:pPr>
              <a:spcAft>
                <a:spcPts val="700"/>
              </a:spcAft>
              <a:defRPr sz="1500" b="0">
                <a:solidFill>
                  <a:srgbClr val="23262D"/>
                </a:solidFill>
                <a:latin typeface="Aptos"/>
              </a:defRPr>
            </a:pPr>
            <a:r>
              <a:t>Understand claims by status, claim type and region.</a:t>
            </a:r>
          </a:p>
          <a:p>
            <a:pPr>
              <a:spcAft>
                <a:spcPts val="700"/>
              </a:spcAft>
              <a:defRPr sz="1500" b="0">
                <a:solidFill>
                  <a:srgbClr val="23262D"/>
                </a:solidFill>
                <a:latin typeface="Aptos"/>
              </a:defRPr>
            </a:pPr>
            <a:r>
              <a:t>Analyze fraud risk scores across claim type, region and gender.</a:t>
            </a:r>
          </a:p>
          <a:p>
            <a:pPr>
              <a:spcAft>
                <a:spcPts val="700"/>
              </a:spcAft>
              <a:defRPr sz="1500" b="0">
                <a:solidFill>
                  <a:srgbClr val="23262D"/>
                </a:solidFill>
                <a:latin typeface="Aptos"/>
              </a:defRPr>
            </a:pPr>
            <a:r>
              <a:t>Compare average claim and premium amounts across business dimensions.</a:t>
            </a:r>
          </a:p>
          <a:p>
            <a:pPr>
              <a:spcAft>
                <a:spcPts val="700"/>
              </a:spcAft>
              <a:defRPr sz="1500" b="0">
                <a:solidFill>
                  <a:srgbClr val="23262D"/>
                </a:solidFill>
                <a:latin typeface="Aptos"/>
              </a:defRPr>
            </a:pPr>
            <a:r>
              <a:t>Create interactive dashboards that allow users to filter by Region and Claim Type.</a:t>
            </a:r>
          </a:p>
          <a:p>
            <a:pPr>
              <a:spcAft>
                <a:spcPts val="700"/>
              </a:spcAft>
              <a:defRPr sz="1500" b="0">
                <a:solidFill>
                  <a:srgbClr val="23262D"/>
                </a:solidFill>
                <a:latin typeface="Aptos"/>
              </a:defRPr>
            </a:pPr>
            <a:r>
              <a:t>Demonstrate practical SQL skills: aggregation, CASE, subqueries, window functions, views and stored procedures.</a:t>
            </a:r>
          </a:p>
        </p:txBody>
      </p:sp>
      <p:sp>
        <p:nvSpPr>
          <p:cNvPr id="6" name="Rounded Rectangle 5"/>
          <p:cNvSpPr/>
          <p:nvPr/>
        </p:nvSpPr>
        <p:spPr>
          <a:xfrm>
            <a:off x="6720840" y="1325880"/>
            <a:ext cx="4754880" cy="1051560"/>
          </a:xfrm>
          <a:prstGeom prst="roundRect">
            <a:avLst/>
          </a:prstGeom>
          <a:solidFill>
            <a:srgbClr val="FFFFFF"/>
          </a:solidFill>
          <a:ln w="15240">
            <a:solidFill>
              <a:srgbClr val="E0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720840" y="1325880"/>
            <a:ext cx="64008" cy="1051560"/>
          </a:xfrm>
          <a:prstGeom prst="rect">
            <a:avLst/>
          </a:prstGeom>
          <a:solidFill>
            <a:srgbClr val="5B5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922007" y="1472184"/>
            <a:ext cx="4434840" cy="365760"/>
          </a:xfrm>
          <a:prstGeom prst="rect">
            <a:avLst/>
          </a:prstGeom>
          <a:noFill/>
        </p:spPr>
        <p:txBody>
          <a:bodyPr wrap="none">
            <a:spAutoFit/>
          </a:bodyPr>
          <a:lstStyle/>
          <a:p>
            <a:r>
              <a:rPr sz="1400" b="1">
                <a:solidFill>
                  <a:srgbClr val="183A8A"/>
                </a:solidFill>
                <a:latin typeface="Aptos"/>
              </a:rPr>
              <a:t>In scope</a:t>
            </a:r>
          </a:p>
        </p:txBody>
      </p:sp>
      <p:sp>
        <p:nvSpPr>
          <p:cNvPr id="9" name="TextBox 8"/>
          <p:cNvSpPr txBox="1"/>
          <p:nvPr/>
        </p:nvSpPr>
        <p:spPr>
          <a:xfrm>
            <a:off x="6922007" y="1892807"/>
            <a:ext cx="4434840" cy="365759"/>
          </a:xfrm>
          <a:prstGeom prst="rect">
            <a:avLst/>
          </a:prstGeom>
          <a:noFill/>
        </p:spPr>
        <p:txBody>
          <a:bodyPr wrap="square">
            <a:spAutoFit/>
          </a:bodyPr>
          <a:lstStyle/>
          <a:p>
            <a:pPr>
              <a:defRPr sz="1100">
                <a:solidFill>
                  <a:srgbClr val="23262D"/>
                </a:solidFill>
                <a:latin typeface="Aptos"/>
              </a:defRPr>
            </a:pPr>
            <a:r>
              <a:t>Claims, fraud flags, risk score, claim amount, premium amount, status, type, region and gender.</a:t>
            </a:r>
          </a:p>
        </p:txBody>
      </p:sp>
      <p:sp>
        <p:nvSpPr>
          <p:cNvPr id="10" name="Rounded Rectangle 9"/>
          <p:cNvSpPr/>
          <p:nvPr/>
        </p:nvSpPr>
        <p:spPr>
          <a:xfrm>
            <a:off x="6720840" y="2560320"/>
            <a:ext cx="4754880" cy="1051560"/>
          </a:xfrm>
          <a:prstGeom prst="roundRect">
            <a:avLst/>
          </a:prstGeom>
          <a:solidFill>
            <a:srgbClr val="FFFFFF"/>
          </a:solidFill>
          <a:ln w="15240">
            <a:solidFill>
              <a:srgbClr val="E0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720840" y="2560320"/>
            <a:ext cx="64008" cy="105156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22007" y="2706624"/>
            <a:ext cx="4434840" cy="365760"/>
          </a:xfrm>
          <a:prstGeom prst="rect">
            <a:avLst/>
          </a:prstGeom>
          <a:noFill/>
        </p:spPr>
        <p:txBody>
          <a:bodyPr wrap="none">
            <a:spAutoFit/>
          </a:bodyPr>
          <a:lstStyle/>
          <a:p>
            <a:r>
              <a:rPr sz="1400" b="1">
                <a:solidFill>
                  <a:srgbClr val="183A8A"/>
                </a:solidFill>
                <a:latin typeface="Aptos"/>
              </a:rPr>
              <a:t>Out of scope</a:t>
            </a:r>
          </a:p>
        </p:txBody>
      </p:sp>
      <p:sp>
        <p:nvSpPr>
          <p:cNvPr id="13" name="TextBox 12"/>
          <p:cNvSpPr txBox="1"/>
          <p:nvPr/>
        </p:nvSpPr>
        <p:spPr>
          <a:xfrm>
            <a:off x="6922007" y="3127248"/>
            <a:ext cx="4434840" cy="365759"/>
          </a:xfrm>
          <a:prstGeom prst="rect">
            <a:avLst/>
          </a:prstGeom>
          <a:noFill/>
        </p:spPr>
        <p:txBody>
          <a:bodyPr wrap="square">
            <a:spAutoFit/>
          </a:bodyPr>
          <a:lstStyle/>
          <a:p>
            <a:pPr>
              <a:defRPr sz="1100">
                <a:solidFill>
                  <a:srgbClr val="23262D"/>
                </a:solidFill>
                <a:latin typeface="Aptos"/>
              </a:defRPr>
            </a:pPr>
            <a:r>
              <a:t>Automated fraud verdicts, production model deployment, real-time claim ingestion and financial-loss valuation not present in the dataset.</a:t>
            </a:r>
          </a:p>
        </p:txBody>
      </p:sp>
      <p:sp>
        <p:nvSpPr>
          <p:cNvPr id="14" name="Rounded Rectangle 13"/>
          <p:cNvSpPr/>
          <p:nvPr/>
        </p:nvSpPr>
        <p:spPr>
          <a:xfrm>
            <a:off x="6720840" y="3794760"/>
            <a:ext cx="4754880" cy="1463040"/>
          </a:xfrm>
          <a:prstGeom prst="roundRect">
            <a:avLst/>
          </a:prstGeom>
          <a:solidFill>
            <a:srgbClr val="FFFFFF"/>
          </a:solidFill>
          <a:ln w="15240">
            <a:solidFill>
              <a:srgbClr val="E0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720840" y="3794760"/>
            <a:ext cx="64008" cy="1463040"/>
          </a:xfrm>
          <a:prstGeom prst="rect">
            <a:avLst/>
          </a:prstGeom>
          <a:solidFill>
            <a:srgbClr val="16A0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922007" y="3941064"/>
            <a:ext cx="4434840" cy="365760"/>
          </a:xfrm>
          <a:prstGeom prst="rect">
            <a:avLst/>
          </a:prstGeom>
          <a:noFill/>
        </p:spPr>
        <p:txBody>
          <a:bodyPr wrap="none">
            <a:spAutoFit/>
          </a:bodyPr>
          <a:lstStyle/>
          <a:p>
            <a:r>
              <a:rPr sz="1400" b="1">
                <a:solidFill>
                  <a:srgbClr val="183A8A"/>
                </a:solidFill>
                <a:latin typeface="Aptos"/>
              </a:rPr>
              <a:t>Success criteria</a:t>
            </a:r>
          </a:p>
        </p:txBody>
      </p:sp>
      <p:sp>
        <p:nvSpPr>
          <p:cNvPr id="17" name="TextBox 16"/>
          <p:cNvSpPr txBox="1"/>
          <p:nvPr/>
        </p:nvSpPr>
        <p:spPr>
          <a:xfrm>
            <a:off x="6922007" y="4361688"/>
            <a:ext cx="4434840" cy="777240"/>
          </a:xfrm>
          <a:prstGeom prst="rect">
            <a:avLst/>
          </a:prstGeom>
          <a:noFill/>
        </p:spPr>
        <p:txBody>
          <a:bodyPr wrap="square">
            <a:spAutoFit/>
          </a:bodyPr>
          <a:lstStyle/>
          <a:p>
            <a:pPr>
              <a:defRPr sz="1150">
                <a:solidFill>
                  <a:srgbClr val="23262D"/>
                </a:solidFill>
                <a:latin typeface="Aptos"/>
              </a:defRPr>
            </a:pPr>
            <a:r>
              <a:t>A clear, interactive dashboard that converts raw claim records into decision-ready summaries and supports drill-down thinking.</a:t>
            </a:r>
          </a:p>
        </p:txBody>
      </p:sp>
      <p:sp>
        <p:nvSpPr>
          <p:cNvPr id="18" name="Rectangle 17"/>
          <p:cNvSpPr/>
          <p:nvPr/>
        </p:nvSpPr>
        <p:spPr>
          <a:xfrm>
            <a:off x="594360" y="6510528"/>
            <a:ext cx="10972800" cy="9144"/>
          </a:xfrm>
          <a:prstGeom prst="rect">
            <a:avLst/>
          </a:prstGeom>
          <a:solidFill>
            <a:srgbClr val="E0E4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 y="6547104"/>
            <a:ext cx="9144000" cy="182880"/>
          </a:xfrm>
          <a:prstGeom prst="rect">
            <a:avLst/>
          </a:prstGeom>
          <a:noFill/>
        </p:spPr>
        <p:txBody>
          <a:bodyPr wrap="none">
            <a:spAutoFit/>
          </a:bodyPr>
          <a:lstStyle/>
          <a:p>
            <a:r>
              <a:rPr sz="800">
                <a:solidFill>
                  <a:srgbClr val="5C626E"/>
                </a:solidFill>
              </a:rPr>
              <a:t>Insurance Claims &amp; Fraud Analysis | Capstone Project</a:t>
            </a:r>
          </a:p>
        </p:txBody>
      </p:sp>
      <p:sp>
        <p:nvSpPr>
          <p:cNvPr id="20" name="TextBox 19"/>
          <p:cNvSpPr txBox="1"/>
          <p:nvPr/>
        </p:nvSpPr>
        <p:spPr>
          <a:xfrm>
            <a:off x="11155680" y="6519672"/>
            <a:ext cx="365760" cy="182880"/>
          </a:xfrm>
          <a:prstGeom prst="rect">
            <a:avLst/>
          </a:prstGeom>
          <a:noFill/>
        </p:spPr>
        <p:txBody>
          <a:bodyPr wrap="none">
            <a:spAutoFit/>
          </a:bodyPr>
          <a:lstStyle/>
          <a:p>
            <a:pPr algn="r"/>
            <a:r>
              <a:rPr sz="800">
                <a:solidFill>
                  <a:srgbClr val="5C626E"/>
                </a:solidFill>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594360"/>
          </a:xfrm>
          <a:prstGeom prst="rect">
            <a:avLst/>
          </a:prstGeom>
          <a:noFill/>
        </p:spPr>
        <p:txBody>
          <a:bodyPr wrap="none">
            <a:spAutoFit/>
          </a:bodyPr>
          <a:lstStyle/>
          <a:p>
            <a:r>
              <a:rPr sz="2500" b="1">
                <a:solidFill>
                  <a:srgbClr val="183A8A"/>
                </a:solidFill>
                <a:latin typeface="Aptos Display"/>
              </a:rPr>
              <a:t>3. Dataset &amp; Data Dictionary</a:t>
            </a:r>
          </a:p>
        </p:txBody>
      </p:sp>
      <p:sp>
        <p:nvSpPr>
          <p:cNvPr id="4" name="TextBox 3"/>
          <p:cNvSpPr txBox="1"/>
          <p:nvPr/>
        </p:nvSpPr>
        <p:spPr>
          <a:xfrm>
            <a:off x="612648" y="896112"/>
            <a:ext cx="10789920" cy="320040"/>
          </a:xfrm>
          <a:prstGeom prst="rect">
            <a:avLst/>
          </a:prstGeom>
          <a:noFill/>
        </p:spPr>
        <p:txBody>
          <a:bodyPr wrap="none">
            <a:spAutoFit/>
          </a:bodyPr>
          <a:lstStyle/>
          <a:p>
            <a:r>
              <a:rPr sz="1050">
                <a:solidFill>
                  <a:srgbClr val="5C626E"/>
                </a:solidFill>
                <a:latin typeface="Aptos"/>
              </a:rPr>
              <a:t>What information is being analyzed</a:t>
            </a:r>
          </a:p>
        </p:txBody>
      </p:sp>
      <p:sp>
        <p:nvSpPr>
          <p:cNvPr id="5" name="Rounded Rectangle 4"/>
          <p:cNvSpPr/>
          <p:nvPr/>
        </p:nvSpPr>
        <p:spPr>
          <a:xfrm>
            <a:off x="640080" y="1234440"/>
            <a:ext cx="3429000" cy="1051560"/>
          </a:xfrm>
          <a:prstGeom prst="roundRect">
            <a:avLst/>
          </a:prstGeom>
          <a:solidFill>
            <a:srgbClr val="FFFFFF"/>
          </a:solidFill>
          <a:ln w="15240">
            <a:solidFill>
              <a:srgbClr val="E0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234440"/>
            <a:ext cx="64008" cy="1051560"/>
          </a:xfrm>
          <a:prstGeom prst="rect">
            <a:avLst/>
          </a:prstGeom>
          <a:solidFill>
            <a:srgbClr val="5B5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1247" y="1380744"/>
            <a:ext cx="3108960" cy="365760"/>
          </a:xfrm>
          <a:prstGeom prst="rect">
            <a:avLst/>
          </a:prstGeom>
          <a:noFill/>
        </p:spPr>
        <p:txBody>
          <a:bodyPr wrap="none">
            <a:spAutoFit/>
          </a:bodyPr>
          <a:lstStyle/>
          <a:p>
            <a:r>
              <a:rPr sz="1300" b="1">
                <a:solidFill>
                  <a:srgbClr val="183A8A"/>
                </a:solidFill>
                <a:latin typeface="Aptos"/>
              </a:rPr>
              <a:t>Claim_ID</a:t>
            </a:r>
          </a:p>
        </p:txBody>
      </p:sp>
      <p:sp>
        <p:nvSpPr>
          <p:cNvPr id="8" name="TextBox 7"/>
          <p:cNvSpPr txBox="1"/>
          <p:nvPr/>
        </p:nvSpPr>
        <p:spPr>
          <a:xfrm>
            <a:off x="841247" y="1801368"/>
            <a:ext cx="3108960" cy="365759"/>
          </a:xfrm>
          <a:prstGeom prst="rect">
            <a:avLst/>
          </a:prstGeom>
          <a:noFill/>
        </p:spPr>
        <p:txBody>
          <a:bodyPr wrap="square">
            <a:spAutoFit/>
          </a:bodyPr>
          <a:lstStyle/>
          <a:p>
            <a:pPr>
              <a:defRPr sz="950">
                <a:solidFill>
                  <a:srgbClr val="23262D"/>
                </a:solidFill>
                <a:latin typeface="Aptos"/>
              </a:defRPr>
            </a:pPr>
            <a:r>
              <a:t>Unique claim identifier — Example: used for COUNT of claims</a:t>
            </a:r>
          </a:p>
        </p:txBody>
      </p:sp>
      <p:sp>
        <p:nvSpPr>
          <p:cNvPr id="9" name="Rounded Rectangle 8"/>
          <p:cNvSpPr/>
          <p:nvPr/>
        </p:nvSpPr>
        <p:spPr>
          <a:xfrm>
            <a:off x="4343400" y="1234440"/>
            <a:ext cx="3429000" cy="1051560"/>
          </a:xfrm>
          <a:prstGeom prst="roundRect">
            <a:avLst/>
          </a:prstGeom>
          <a:solidFill>
            <a:srgbClr val="FFFFFF"/>
          </a:solidFill>
          <a:ln w="15240">
            <a:solidFill>
              <a:srgbClr val="E0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43400" y="1234440"/>
            <a:ext cx="64008" cy="1051560"/>
          </a:xfrm>
          <a:prstGeom prst="rect">
            <a:avLst/>
          </a:prstGeom>
          <a:solidFill>
            <a:srgbClr val="3498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44568" y="1380744"/>
            <a:ext cx="3108960" cy="365760"/>
          </a:xfrm>
          <a:prstGeom prst="rect">
            <a:avLst/>
          </a:prstGeom>
          <a:noFill/>
        </p:spPr>
        <p:txBody>
          <a:bodyPr wrap="none">
            <a:spAutoFit/>
          </a:bodyPr>
          <a:lstStyle/>
          <a:p>
            <a:r>
              <a:rPr sz="1300" b="1">
                <a:solidFill>
                  <a:srgbClr val="183A8A"/>
                </a:solidFill>
                <a:latin typeface="Aptos"/>
              </a:rPr>
              <a:t>Claim_Type</a:t>
            </a:r>
          </a:p>
        </p:txBody>
      </p:sp>
      <p:sp>
        <p:nvSpPr>
          <p:cNvPr id="12" name="TextBox 11"/>
          <p:cNvSpPr txBox="1"/>
          <p:nvPr/>
        </p:nvSpPr>
        <p:spPr>
          <a:xfrm>
            <a:off x="4544568" y="1801368"/>
            <a:ext cx="3108960" cy="365759"/>
          </a:xfrm>
          <a:prstGeom prst="rect">
            <a:avLst/>
          </a:prstGeom>
          <a:noFill/>
        </p:spPr>
        <p:txBody>
          <a:bodyPr wrap="square">
            <a:spAutoFit/>
          </a:bodyPr>
          <a:lstStyle/>
          <a:p>
            <a:pPr>
              <a:defRPr sz="950">
                <a:solidFill>
                  <a:srgbClr val="23262D"/>
                </a:solidFill>
                <a:latin typeface="Aptos"/>
              </a:defRPr>
            </a:pPr>
            <a:r>
              <a:t>Type/category of claim — Theft, Accident, Property, Medical</a:t>
            </a:r>
          </a:p>
        </p:txBody>
      </p:sp>
      <p:sp>
        <p:nvSpPr>
          <p:cNvPr id="13" name="Rounded Rectangle 12"/>
          <p:cNvSpPr/>
          <p:nvPr/>
        </p:nvSpPr>
        <p:spPr>
          <a:xfrm>
            <a:off x="8046719" y="1234440"/>
            <a:ext cx="3429000" cy="1051560"/>
          </a:xfrm>
          <a:prstGeom prst="roundRect">
            <a:avLst/>
          </a:prstGeom>
          <a:solidFill>
            <a:srgbClr val="FFFFFF"/>
          </a:solidFill>
          <a:ln w="15240">
            <a:solidFill>
              <a:srgbClr val="E0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46719" y="1234440"/>
            <a:ext cx="64008" cy="1051560"/>
          </a:xfrm>
          <a:prstGeom prst="rect">
            <a:avLst/>
          </a:prstGeom>
          <a:solidFill>
            <a:srgbClr val="16A0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47888" y="1380744"/>
            <a:ext cx="3108960" cy="365760"/>
          </a:xfrm>
          <a:prstGeom prst="rect">
            <a:avLst/>
          </a:prstGeom>
          <a:noFill/>
        </p:spPr>
        <p:txBody>
          <a:bodyPr wrap="none">
            <a:spAutoFit/>
          </a:bodyPr>
          <a:lstStyle/>
          <a:p>
            <a:r>
              <a:rPr sz="1300" b="1">
                <a:solidFill>
                  <a:srgbClr val="183A8A"/>
                </a:solidFill>
                <a:latin typeface="Aptos"/>
              </a:rPr>
              <a:t>Region</a:t>
            </a:r>
          </a:p>
        </p:txBody>
      </p:sp>
      <p:sp>
        <p:nvSpPr>
          <p:cNvPr id="16" name="TextBox 15"/>
          <p:cNvSpPr txBox="1"/>
          <p:nvPr/>
        </p:nvSpPr>
        <p:spPr>
          <a:xfrm>
            <a:off x="8247888" y="1801368"/>
            <a:ext cx="3108960" cy="365759"/>
          </a:xfrm>
          <a:prstGeom prst="rect">
            <a:avLst/>
          </a:prstGeom>
          <a:noFill/>
        </p:spPr>
        <p:txBody>
          <a:bodyPr wrap="square">
            <a:spAutoFit/>
          </a:bodyPr>
          <a:lstStyle/>
          <a:p>
            <a:pPr>
              <a:defRPr sz="950">
                <a:solidFill>
                  <a:srgbClr val="23262D"/>
                </a:solidFill>
                <a:latin typeface="Aptos"/>
              </a:defRPr>
            </a:pPr>
            <a:r>
              <a:t>Geographic grouping — East, North, South, West</a:t>
            </a:r>
          </a:p>
        </p:txBody>
      </p:sp>
      <p:sp>
        <p:nvSpPr>
          <p:cNvPr id="17" name="Rounded Rectangle 16"/>
          <p:cNvSpPr/>
          <p:nvPr/>
        </p:nvSpPr>
        <p:spPr>
          <a:xfrm>
            <a:off x="640080" y="2560320"/>
            <a:ext cx="3429000" cy="1051560"/>
          </a:xfrm>
          <a:prstGeom prst="roundRect">
            <a:avLst/>
          </a:prstGeom>
          <a:solidFill>
            <a:srgbClr val="FFFFFF"/>
          </a:solidFill>
          <a:ln w="15240">
            <a:solidFill>
              <a:srgbClr val="E0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40080" y="2560320"/>
            <a:ext cx="64008" cy="1051560"/>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41247" y="2706624"/>
            <a:ext cx="3108960" cy="365760"/>
          </a:xfrm>
          <a:prstGeom prst="rect">
            <a:avLst/>
          </a:prstGeom>
          <a:noFill/>
        </p:spPr>
        <p:txBody>
          <a:bodyPr wrap="none">
            <a:spAutoFit/>
          </a:bodyPr>
          <a:lstStyle/>
          <a:p>
            <a:r>
              <a:rPr sz="1300" b="1">
                <a:solidFill>
                  <a:srgbClr val="183A8A"/>
                </a:solidFill>
                <a:latin typeface="Aptos"/>
              </a:rPr>
              <a:t>Gender</a:t>
            </a:r>
          </a:p>
        </p:txBody>
      </p:sp>
      <p:sp>
        <p:nvSpPr>
          <p:cNvPr id="20" name="TextBox 19"/>
          <p:cNvSpPr txBox="1"/>
          <p:nvPr/>
        </p:nvSpPr>
        <p:spPr>
          <a:xfrm>
            <a:off x="841247" y="3127248"/>
            <a:ext cx="3108960" cy="365759"/>
          </a:xfrm>
          <a:prstGeom prst="rect">
            <a:avLst/>
          </a:prstGeom>
          <a:noFill/>
        </p:spPr>
        <p:txBody>
          <a:bodyPr wrap="square">
            <a:spAutoFit/>
          </a:bodyPr>
          <a:lstStyle/>
          <a:p>
            <a:pPr>
              <a:defRPr sz="950">
                <a:solidFill>
                  <a:srgbClr val="23262D"/>
                </a:solidFill>
                <a:latin typeface="Aptos"/>
              </a:defRPr>
            </a:pPr>
            <a:r>
              <a:t>Customer gender — Female / Male</a:t>
            </a:r>
          </a:p>
        </p:txBody>
      </p:sp>
      <p:sp>
        <p:nvSpPr>
          <p:cNvPr id="21" name="Rounded Rectangle 20"/>
          <p:cNvSpPr/>
          <p:nvPr/>
        </p:nvSpPr>
        <p:spPr>
          <a:xfrm>
            <a:off x="4343400" y="2560320"/>
            <a:ext cx="3429000" cy="1051560"/>
          </a:xfrm>
          <a:prstGeom prst="roundRect">
            <a:avLst/>
          </a:prstGeom>
          <a:solidFill>
            <a:srgbClr val="FFFFFF"/>
          </a:solidFill>
          <a:ln w="15240">
            <a:solidFill>
              <a:srgbClr val="E0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343400" y="2560320"/>
            <a:ext cx="64008" cy="105156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44568" y="2706624"/>
            <a:ext cx="3108960" cy="365760"/>
          </a:xfrm>
          <a:prstGeom prst="rect">
            <a:avLst/>
          </a:prstGeom>
          <a:noFill/>
        </p:spPr>
        <p:txBody>
          <a:bodyPr wrap="none">
            <a:spAutoFit/>
          </a:bodyPr>
          <a:lstStyle/>
          <a:p>
            <a:r>
              <a:rPr sz="1300" b="1">
                <a:solidFill>
                  <a:srgbClr val="183A8A"/>
                </a:solidFill>
                <a:latin typeface="Aptos"/>
              </a:rPr>
              <a:t>Claim_Status</a:t>
            </a:r>
          </a:p>
        </p:txBody>
      </p:sp>
      <p:sp>
        <p:nvSpPr>
          <p:cNvPr id="24" name="TextBox 23"/>
          <p:cNvSpPr txBox="1"/>
          <p:nvPr/>
        </p:nvSpPr>
        <p:spPr>
          <a:xfrm>
            <a:off x="4544568" y="3127248"/>
            <a:ext cx="3108960" cy="365759"/>
          </a:xfrm>
          <a:prstGeom prst="rect">
            <a:avLst/>
          </a:prstGeom>
          <a:noFill/>
        </p:spPr>
        <p:txBody>
          <a:bodyPr wrap="square">
            <a:spAutoFit/>
          </a:bodyPr>
          <a:lstStyle/>
          <a:p>
            <a:pPr>
              <a:defRPr sz="950">
                <a:solidFill>
                  <a:srgbClr val="23262D"/>
                </a:solidFill>
                <a:latin typeface="Aptos"/>
              </a:defRPr>
            </a:pPr>
            <a:r>
              <a:t>Current claim status — Approved / Under Review / Rejected</a:t>
            </a:r>
          </a:p>
        </p:txBody>
      </p:sp>
      <p:sp>
        <p:nvSpPr>
          <p:cNvPr id="25" name="Rounded Rectangle 24"/>
          <p:cNvSpPr/>
          <p:nvPr/>
        </p:nvSpPr>
        <p:spPr>
          <a:xfrm>
            <a:off x="8046719" y="2560320"/>
            <a:ext cx="3429000" cy="1051560"/>
          </a:xfrm>
          <a:prstGeom prst="roundRect">
            <a:avLst/>
          </a:prstGeom>
          <a:solidFill>
            <a:srgbClr val="FFFFFF"/>
          </a:solidFill>
          <a:ln w="15240">
            <a:solidFill>
              <a:srgbClr val="E0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046719" y="2560320"/>
            <a:ext cx="64008" cy="1051560"/>
          </a:xfrm>
          <a:prstGeom prst="rect">
            <a:avLst/>
          </a:prstGeom>
          <a:solidFill>
            <a:srgbClr val="5B5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47888" y="2706624"/>
            <a:ext cx="3108960" cy="365760"/>
          </a:xfrm>
          <a:prstGeom prst="rect">
            <a:avLst/>
          </a:prstGeom>
          <a:noFill/>
        </p:spPr>
        <p:txBody>
          <a:bodyPr wrap="none">
            <a:spAutoFit/>
          </a:bodyPr>
          <a:lstStyle/>
          <a:p>
            <a:r>
              <a:rPr sz="1300" b="1">
                <a:solidFill>
                  <a:srgbClr val="183A8A"/>
                </a:solidFill>
                <a:latin typeface="Aptos"/>
              </a:rPr>
              <a:t>Claim_Amount</a:t>
            </a:r>
          </a:p>
        </p:txBody>
      </p:sp>
      <p:sp>
        <p:nvSpPr>
          <p:cNvPr id="28" name="TextBox 27"/>
          <p:cNvSpPr txBox="1"/>
          <p:nvPr/>
        </p:nvSpPr>
        <p:spPr>
          <a:xfrm>
            <a:off x="8247888" y="3127248"/>
            <a:ext cx="3108960" cy="365759"/>
          </a:xfrm>
          <a:prstGeom prst="rect">
            <a:avLst/>
          </a:prstGeom>
          <a:noFill/>
        </p:spPr>
        <p:txBody>
          <a:bodyPr wrap="square">
            <a:spAutoFit/>
          </a:bodyPr>
          <a:lstStyle/>
          <a:p>
            <a:pPr>
              <a:defRPr sz="950">
                <a:solidFill>
                  <a:srgbClr val="23262D"/>
                </a:solidFill>
                <a:latin typeface="Aptos"/>
              </a:defRPr>
            </a:pPr>
            <a:r>
              <a:t>Financial value of the claim — Used for SUM / AVG</a:t>
            </a:r>
          </a:p>
        </p:txBody>
      </p:sp>
      <p:sp>
        <p:nvSpPr>
          <p:cNvPr id="29" name="Rounded Rectangle 28"/>
          <p:cNvSpPr/>
          <p:nvPr/>
        </p:nvSpPr>
        <p:spPr>
          <a:xfrm>
            <a:off x="640080" y="3886200"/>
            <a:ext cx="3429000" cy="1051560"/>
          </a:xfrm>
          <a:prstGeom prst="roundRect">
            <a:avLst/>
          </a:prstGeom>
          <a:solidFill>
            <a:srgbClr val="FFFFFF"/>
          </a:solidFill>
          <a:ln w="15240">
            <a:solidFill>
              <a:srgbClr val="E0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40080" y="3886200"/>
            <a:ext cx="64008" cy="1051560"/>
          </a:xfrm>
          <a:prstGeom prst="rect">
            <a:avLst/>
          </a:prstGeom>
          <a:solidFill>
            <a:srgbClr val="3498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41247" y="4032504"/>
            <a:ext cx="3108960" cy="365760"/>
          </a:xfrm>
          <a:prstGeom prst="rect">
            <a:avLst/>
          </a:prstGeom>
          <a:noFill/>
        </p:spPr>
        <p:txBody>
          <a:bodyPr wrap="none">
            <a:spAutoFit/>
          </a:bodyPr>
          <a:lstStyle/>
          <a:p>
            <a:r>
              <a:rPr sz="1300" b="1">
                <a:solidFill>
                  <a:srgbClr val="183A8A"/>
                </a:solidFill>
                <a:latin typeface="Aptos"/>
              </a:rPr>
              <a:t>Premium_Amount</a:t>
            </a:r>
          </a:p>
        </p:txBody>
      </p:sp>
      <p:sp>
        <p:nvSpPr>
          <p:cNvPr id="32" name="TextBox 31"/>
          <p:cNvSpPr txBox="1"/>
          <p:nvPr/>
        </p:nvSpPr>
        <p:spPr>
          <a:xfrm>
            <a:off x="841247" y="4453128"/>
            <a:ext cx="3108960" cy="365759"/>
          </a:xfrm>
          <a:prstGeom prst="rect">
            <a:avLst/>
          </a:prstGeom>
          <a:noFill/>
        </p:spPr>
        <p:txBody>
          <a:bodyPr wrap="square">
            <a:spAutoFit/>
          </a:bodyPr>
          <a:lstStyle/>
          <a:p>
            <a:pPr>
              <a:defRPr sz="950">
                <a:solidFill>
                  <a:srgbClr val="23262D"/>
                </a:solidFill>
                <a:latin typeface="Aptos"/>
              </a:defRPr>
            </a:pPr>
            <a:r>
              <a:t>Premium-related amount — Used for AVG</a:t>
            </a:r>
          </a:p>
        </p:txBody>
      </p:sp>
      <p:sp>
        <p:nvSpPr>
          <p:cNvPr id="33" name="Rounded Rectangle 32"/>
          <p:cNvSpPr/>
          <p:nvPr/>
        </p:nvSpPr>
        <p:spPr>
          <a:xfrm>
            <a:off x="4343400" y="3886200"/>
            <a:ext cx="3429000" cy="1051560"/>
          </a:xfrm>
          <a:prstGeom prst="roundRect">
            <a:avLst/>
          </a:prstGeom>
          <a:solidFill>
            <a:srgbClr val="FFFFFF"/>
          </a:solidFill>
          <a:ln w="15240">
            <a:solidFill>
              <a:srgbClr val="E0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343400" y="3886200"/>
            <a:ext cx="64008" cy="1051560"/>
          </a:xfrm>
          <a:prstGeom prst="rect">
            <a:avLst/>
          </a:prstGeom>
          <a:solidFill>
            <a:srgbClr val="16A0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544568" y="4032504"/>
            <a:ext cx="3108960" cy="365760"/>
          </a:xfrm>
          <a:prstGeom prst="rect">
            <a:avLst/>
          </a:prstGeom>
          <a:noFill/>
        </p:spPr>
        <p:txBody>
          <a:bodyPr wrap="none">
            <a:spAutoFit/>
          </a:bodyPr>
          <a:lstStyle/>
          <a:p>
            <a:r>
              <a:rPr sz="1300" b="1">
                <a:solidFill>
                  <a:srgbClr val="183A8A"/>
                </a:solidFill>
                <a:latin typeface="Aptos"/>
              </a:rPr>
              <a:t>Fraud_Risk_Score</a:t>
            </a:r>
          </a:p>
        </p:txBody>
      </p:sp>
      <p:sp>
        <p:nvSpPr>
          <p:cNvPr id="36" name="TextBox 35"/>
          <p:cNvSpPr txBox="1"/>
          <p:nvPr/>
        </p:nvSpPr>
        <p:spPr>
          <a:xfrm>
            <a:off x="4544568" y="4453128"/>
            <a:ext cx="3108960" cy="365759"/>
          </a:xfrm>
          <a:prstGeom prst="rect">
            <a:avLst/>
          </a:prstGeom>
          <a:noFill/>
        </p:spPr>
        <p:txBody>
          <a:bodyPr wrap="square">
            <a:spAutoFit/>
          </a:bodyPr>
          <a:lstStyle/>
          <a:p>
            <a:pPr>
              <a:defRPr sz="950">
                <a:solidFill>
                  <a:srgbClr val="23262D"/>
                </a:solidFill>
                <a:latin typeface="Aptos"/>
              </a:defRPr>
            </a:pPr>
            <a:r>
              <a:t>Risk indicator — Used for average/distribution analysis</a:t>
            </a:r>
          </a:p>
        </p:txBody>
      </p:sp>
      <p:sp>
        <p:nvSpPr>
          <p:cNvPr id="37" name="Rounded Rectangle 36"/>
          <p:cNvSpPr/>
          <p:nvPr/>
        </p:nvSpPr>
        <p:spPr>
          <a:xfrm>
            <a:off x="8046719" y="3886200"/>
            <a:ext cx="3429000" cy="1051560"/>
          </a:xfrm>
          <a:prstGeom prst="roundRect">
            <a:avLst/>
          </a:prstGeom>
          <a:solidFill>
            <a:srgbClr val="FFFFFF"/>
          </a:solidFill>
          <a:ln w="15240">
            <a:solidFill>
              <a:srgbClr val="E0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046719" y="3886200"/>
            <a:ext cx="64008" cy="1051560"/>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247888" y="4032504"/>
            <a:ext cx="3108960" cy="365760"/>
          </a:xfrm>
          <a:prstGeom prst="rect">
            <a:avLst/>
          </a:prstGeom>
          <a:noFill/>
        </p:spPr>
        <p:txBody>
          <a:bodyPr wrap="none">
            <a:spAutoFit/>
          </a:bodyPr>
          <a:lstStyle/>
          <a:p>
            <a:r>
              <a:rPr sz="1300" b="1">
                <a:solidFill>
                  <a:srgbClr val="183A8A"/>
                </a:solidFill>
                <a:latin typeface="Aptos"/>
              </a:rPr>
              <a:t>Fraud_Flag</a:t>
            </a:r>
          </a:p>
        </p:txBody>
      </p:sp>
      <p:sp>
        <p:nvSpPr>
          <p:cNvPr id="40" name="TextBox 39"/>
          <p:cNvSpPr txBox="1"/>
          <p:nvPr/>
        </p:nvSpPr>
        <p:spPr>
          <a:xfrm>
            <a:off x="8247888" y="4453128"/>
            <a:ext cx="3108960" cy="365759"/>
          </a:xfrm>
          <a:prstGeom prst="rect">
            <a:avLst/>
          </a:prstGeom>
          <a:noFill/>
        </p:spPr>
        <p:txBody>
          <a:bodyPr wrap="square">
            <a:spAutoFit/>
          </a:bodyPr>
          <a:lstStyle/>
          <a:p>
            <a:pPr>
              <a:defRPr sz="950">
                <a:solidFill>
                  <a:srgbClr val="23262D"/>
                </a:solidFill>
                <a:latin typeface="Aptos"/>
              </a:defRPr>
            </a:pPr>
            <a:r>
              <a:t>Fraud indicator field — Yes / No</a:t>
            </a:r>
          </a:p>
        </p:txBody>
      </p:sp>
      <p:sp>
        <p:nvSpPr>
          <p:cNvPr id="41" name="Rectangle 40"/>
          <p:cNvSpPr/>
          <p:nvPr/>
        </p:nvSpPr>
        <p:spPr>
          <a:xfrm>
            <a:off x="594360" y="6510528"/>
            <a:ext cx="10972800" cy="9144"/>
          </a:xfrm>
          <a:prstGeom prst="rect">
            <a:avLst/>
          </a:prstGeom>
          <a:solidFill>
            <a:srgbClr val="E0E4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21792" y="6547104"/>
            <a:ext cx="9144000" cy="182880"/>
          </a:xfrm>
          <a:prstGeom prst="rect">
            <a:avLst/>
          </a:prstGeom>
          <a:noFill/>
        </p:spPr>
        <p:txBody>
          <a:bodyPr wrap="none">
            <a:spAutoFit/>
          </a:bodyPr>
          <a:lstStyle/>
          <a:p>
            <a:r>
              <a:rPr sz="800">
                <a:solidFill>
                  <a:srgbClr val="5C626E"/>
                </a:solidFill>
              </a:rPr>
              <a:t>Insurance Claims &amp; Fraud Analysis | Capstone Project</a:t>
            </a:r>
          </a:p>
        </p:txBody>
      </p:sp>
      <p:sp>
        <p:nvSpPr>
          <p:cNvPr id="43" name="TextBox 42"/>
          <p:cNvSpPr txBox="1"/>
          <p:nvPr/>
        </p:nvSpPr>
        <p:spPr>
          <a:xfrm>
            <a:off x="11155680" y="6519672"/>
            <a:ext cx="365760" cy="182880"/>
          </a:xfrm>
          <a:prstGeom prst="rect">
            <a:avLst/>
          </a:prstGeom>
          <a:noFill/>
        </p:spPr>
        <p:txBody>
          <a:bodyPr wrap="none">
            <a:spAutoFit/>
          </a:bodyPr>
          <a:lstStyle/>
          <a:p>
            <a:pPr algn="r"/>
            <a:r>
              <a:rPr sz="800">
                <a:solidFill>
                  <a:srgbClr val="5C626E"/>
                </a:solidFill>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594360"/>
          </a:xfrm>
          <a:prstGeom prst="rect">
            <a:avLst/>
          </a:prstGeom>
          <a:noFill/>
        </p:spPr>
        <p:txBody>
          <a:bodyPr wrap="none">
            <a:spAutoFit/>
          </a:bodyPr>
          <a:lstStyle/>
          <a:p>
            <a:r>
              <a:rPr sz="2500" b="1">
                <a:solidFill>
                  <a:srgbClr val="183A8A"/>
                </a:solidFill>
                <a:latin typeface="Aptos Display"/>
              </a:rPr>
              <a:t>4. Technology Stack &amp; Architecture</a:t>
            </a:r>
          </a:p>
        </p:txBody>
      </p:sp>
      <p:sp>
        <p:nvSpPr>
          <p:cNvPr id="4" name="TextBox 3"/>
          <p:cNvSpPr txBox="1"/>
          <p:nvPr/>
        </p:nvSpPr>
        <p:spPr>
          <a:xfrm>
            <a:off x="612648" y="896112"/>
            <a:ext cx="10789920" cy="320040"/>
          </a:xfrm>
          <a:prstGeom prst="rect">
            <a:avLst/>
          </a:prstGeom>
          <a:noFill/>
        </p:spPr>
        <p:txBody>
          <a:bodyPr wrap="none">
            <a:spAutoFit/>
          </a:bodyPr>
          <a:lstStyle/>
          <a:p>
            <a:r>
              <a:rPr sz="1050">
                <a:solidFill>
                  <a:srgbClr val="5C626E"/>
                </a:solidFill>
                <a:latin typeface="Aptos"/>
              </a:rPr>
              <a:t>Tools used and how they work together</a:t>
            </a:r>
          </a:p>
        </p:txBody>
      </p:sp>
      <p:sp>
        <p:nvSpPr>
          <p:cNvPr id="5" name="Rounded Rectangle 4"/>
          <p:cNvSpPr/>
          <p:nvPr/>
        </p:nvSpPr>
        <p:spPr>
          <a:xfrm>
            <a:off x="731520" y="1280160"/>
            <a:ext cx="2743200" cy="713232"/>
          </a:xfrm>
          <a:prstGeom prst="roundRect">
            <a:avLst/>
          </a:prstGeom>
          <a:solidFill>
            <a:srgbClr val="FFFFFF"/>
          </a:solidFill>
          <a:ln w="15240">
            <a:solidFill>
              <a:srgbClr val="E0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280160"/>
            <a:ext cx="64008" cy="713232"/>
          </a:xfrm>
          <a:prstGeom prst="rect">
            <a:avLst/>
          </a:prstGeom>
          <a:solidFill>
            <a:srgbClr val="3498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32688" y="1426463"/>
            <a:ext cx="2423160" cy="365760"/>
          </a:xfrm>
          <a:prstGeom prst="rect">
            <a:avLst/>
          </a:prstGeom>
          <a:noFill/>
        </p:spPr>
        <p:txBody>
          <a:bodyPr wrap="none">
            <a:spAutoFit/>
          </a:bodyPr>
          <a:lstStyle/>
          <a:p>
            <a:r>
              <a:rPr sz="1300" b="1">
                <a:solidFill>
                  <a:srgbClr val="183A8A"/>
                </a:solidFill>
                <a:latin typeface="Aptos"/>
              </a:rPr>
              <a:t>MySQL / SQL</a:t>
            </a:r>
          </a:p>
        </p:txBody>
      </p:sp>
      <p:sp>
        <p:nvSpPr>
          <p:cNvPr id="8" name="TextBox 7"/>
          <p:cNvSpPr txBox="1"/>
          <p:nvPr/>
        </p:nvSpPr>
        <p:spPr>
          <a:xfrm>
            <a:off x="932688" y="1847088"/>
            <a:ext cx="2423160" cy="27432"/>
          </a:xfrm>
          <a:prstGeom prst="rect">
            <a:avLst/>
          </a:prstGeom>
          <a:noFill/>
        </p:spPr>
        <p:txBody>
          <a:bodyPr wrap="square">
            <a:spAutoFit/>
          </a:bodyPr>
          <a:lstStyle/>
          <a:p>
            <a:pPr>
              <a:defRPr sz="950">
                <a:solidFill>
                  <a:srgbClr val="23262D"/>
                </a:solidFill>
                <a:latin typeface="Aptos"/>
              </a:defRPr>
            </a:pPr>
            <a:r>
              <a:t>Data querying and analysis</a:t>
            </a:r>
          </a:p>
        </p:txBody>
      </p:sp>
      <p:sp>
        <p:nvSpPr>
          <p:cNvPr id="9" name="Right Arrow 8"/>
          <p:cNvSpPr/>
          <p:nvPr/>
        </p:nvSpPr>
        <p:spPr>
          <a:xfrm>
            <a:off x="3703320" y="1426463"/>
            <a:ext cx="502920" cy="384048"/>
          </a:xfrm>
          <a:prstGeom prst="rightArrow">
            <a:avLst/>
          </a:prstGeom>
          <a:solidFill>
            <a:srgbClr val="3498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34840" y="1353312"/>
            <a:ext cx="6675120" cy="502920"/>
          </a:xfrm>
          <a:prstGeom prst="rect">
            <a:avLst/>
          </a:prstGeom>
          <a:noFill/>
        </p:spPr>
        <p:txBody>
          <a:bodyPr wrap="none">
            <a:spAutoFit/>
          </a:bodyPr>
          <a:lstStyle/>
          <a:p>
            <a:r>
              <a:rPr sz="1400" b="1">
                <a:solidFill>
                  <a:srgbClr val="23262D"/>
                </a:solidFill>
              </a:rPr>
              <a:t>Core analytical layer</a:t>
            </a:r>
          </a:p>
        </p:txBody>
      </p:sp>
      <p:sp>
        <p:nvSpPr>
          <p:cNvPr id="11" name="Rounded Rectangle 10"/>
          <p:cNvSpPr/>
          <p:nvPr/>
        </p:nvSpPr>
        <p:spPr>
          <a:xfrm>
            <a:off x="731520" y="2212848"/>
            <a:ext cx="2743200" cy="713232"/>
          </a:xfrm>
          <a:prstGeom prst="roundRect">
            <a:avLst/>
          </a:prstGeom>
          <a:solidFill>
            <a:srgbClr val="FFFFFF"/>
          </a:solidFill>
          <a:ln w="15240">
            <a:solidFill>
              <a:srgbClr val="E0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2212848"/>
            <a:ext cx="64008" cy="713232"/>
          </a:xfrm>
          <a:prstGeom prst="rect">
            <a:avLst/>
          </a:prstGeom>
          <a:solidFill>
            <a:srgbClr val="5B5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2359152"/>
            <a:ext cx="2423160" cy="365760"/>
          </a:xfrm>
          <a:prstGeom prst="rect">
            <a:avLst/>
          </a:prstGeom>
          <a:noFill/>
        </p:spPr>
        <p:txBody>
          <a:bodyPr wrap="none">
            <a:spAutoFit/>
          </a:bodyPr>
          <a:lstStyle/>
          <a:p>
            <a:r>
              <a:rPr sz="1300" b="1">
                <a:solidFill>
                  <a:srgbClr val="183A8A"/>
                </a:solidFill>
                <a:latin typeface="Aptos"/>
              </a:rPr>
              <a:t>Power BI</a:t>
            </a:r>
          </a:p>
        </p:txBody>
      </p:sp>
      <p:sp>
        <p:nvSpPr>
          <p:cNvPr id="14" name="TextBox 13"/>
          <p:cNvSpPr txBox="1"/>
          <p:nvPr/>
        </p:nvSpPr>
        <p:spPr>
          <a:xfrm>
            <a:off x="932688" y="2779776"/>
            <a:ext cx="2423160" cy="27432"/>
          </a:xfrm>
          <a:prstGeom prst="rect">
            <a:avLst/>
          </a:prstGeom>
          <a:noFill/>
        </p:spPr>
        <p:txBody>
          <a:bodyPr wrap="square">
            <a:spAutoFit/>
          </a:bodyPr>
          <a:lstStyle/>
          <a:p>
            <a:pPr>
              <a:defRPr sz="950">
                <a:solidFill>
                  <a:srgbClr val="23262D"/>
                </a:solidFill>
                <a:latin typeface="Aptos"/>
              </a:defRPr>
            </a:pPr>
            <a:r>
              <a:t>Interactive visualization</a:t>
            </a:r>
          </a:p>
        </p:txBody>
      </p:sp>
      <p:sp>
        <p:nvSpPr>
          <p:cNvPr id="15" name="Right Arrow 14"/>
          <p:cNvSpPr/>
          <p:nvPr/>
        </p:nvSpPr>
        <p:spPr>
          <a:xfrm>
            <a:off x="3703320" y="2359152"/>
            <a:ext cx="502920" cy="384048"/>
          </a:xfrm>
          <a:prstGeom prst="rightArrow">
            <a:avLst/>
          </a:prstGeom>
          <a:solidFill>
            <a:srgbClr val="5B5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34840" y="2286000"/>
            <a:ext cx="6675120" cy="502920"/>
          </a:xfrm>
          <a:prstGeom prst="rect">
            <a:avLst/>
          </a:prstGeom>
          <a:noFill/>
        </p:spPr>
        <p:txBody>
          <a:bodyPr wrap="none">
            <a:spAutoFit/>
          </a:bodyPr>
          <a:lstStyle/>
          <a:p>
            <a:r>
              <a:rPr sz="1400" b="1">
                <a:solidFill>
                  <a:srgbClr val="23262D"/>
                </a:solidFill>
              </a:rPr>
              <a:t>Dashboard &amp; reporting layer</a:t>
            </a:r>
          </a:p>
        </p:txBody>
      </p:sp>
      <p:sp>
        <p:nvSpPr>
          <p:cNvPr id="17" name="Rounded Rectangle 16"/>
          <p:cNvSpPr/>
          <p:nvPr/>
        </p:nvSpPr>
        <p:spPr>
          <a:xfrm>
            <a:off x="731520" y="3145536"/>
            <a:ext cx="2743200" cy="713232"/>
          </a:xfrm>
          <a:prstGeom prst="roundRect">
            <a:avLst/>
          </a:prstGeom>
          <a:solidFill>
            <a:srgbClr val="FFFFFF"/>
          </a:solidFill>
          <a:ln w="15240">
            <a:solidFill>
              <a:srgbClr val="E0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31520" y="3145536"/>
            <a:ext cx="64008" cy="713232"/>
          </a:xfrm>
          <a:prstGeom prst="rect">
            <a:avLst/>
          </a:prstGeom>
          <a:solidFill>
            <a:srgbClr val="16A0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3291840"/>
            <a:ext cx="2423160" cy="365760"/>
          </a:xfrm>
          <a:prstGeom prst="rect">
            <a:avLst/>
          </a:prstGeom>
          <a:noFill/>
        </p:spPr>
        <p:txBody>
          <a:bodyPr wrap="none">
            <a:spAutoFit/>
          </a:bodyPr>
          <a:lstStyle/>
          <a:p>
            <a:r>
              <a:rPr sz="1300" b="1">
                <a:solidFill>
                  <a:srgbClr val="183A8A"/>
                </a:solidFill>
                <a:latin typeface="Aptos"/>
              </a:rPr>
              <a:t>Power Query / BI modeling</a:t>
            </a:r>
          </a:p>
        </p:txBody>
      </p:sp>
      <p:sp>
        <p:nvSpPr>
          <p:cNvPr id="20" name="TextBox 19"/>
          <p:cNvSpPr txBox="1"/>
          <p:nvPr/>
        </p:nvSpPr>
        <p:spPr>
          <a:xfrm>
            <a:off x="932688" y="3712463"/>
            <a:ext cx="2423160" cy="27432"/>
          </a:xfrm>
          <a:prstGeom prst="rect">
            <a:avLst/>
          </a:prstGeom>
          <a:noFill/>
        </p:spPr>
        <p:txBody>
          <a:bodyPr wrap="square">
            <a:spAutoFit/>
          </a:bodyPr>
          <a:lstStyle/>
          <a:p>
            <a:pPr>
              <a:defRPr sz="950">
                <a:solidFill>
                  <a:srgbClr val="23262D"/>
                </a:solidFill>
                <a:latin typeface="Aptos"/>
              </a:defRPr>
            </a:pPr>
            <a:r>
              <a:t>Data preparation &amp; shaping</a:t>
            </a:r>
          </a:p>
        </p:txBody>
      </p:sp>
      <p:sp>
        <p:nvSpPr>
          <p:cNvPr id="21" name="Right Arrow 20"/>
          <p:cNvSpPr/>
          <p:nvPr/>
        </p:nvSpPr>
        <p:spPr>
          <a:xfrm>
            <a:off x="3703320" y="3291840"/>
            <a:ext cx="502920" cy="384048"/>
          </a:xfrm>
          <a:prstGeom prst="rightArrow">
            <a:avLst/>
          </a:prstGeom>
          <a:solidFill>
            <a:srgbClr val="16A0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34840" y="3218688"/>
            <a:ext cx="6675120" cy="502920"/>
          </a:xfrm>
          <a:prstGeom prst="rect">
            <a:avLst/>
          </a:prstGeom>
          <a:noFill/>
        </p:spPr>
        <p:txBody>
          <a:bodyPr wrap="none">
            <a:spAutoFit/>
          </a:bodyPr>
          <a:lstStyle/>
          <a:p>
            <a:r>
              <a:rPr sz="1400" b="1">
                <a:solidFill>
                  <a:srgbClr val="23262D"/>
                </a:solidFill>
              </a:rPr>
              <a:t>Clean and structure data</a:t>
            </a:r>
          </a:p>
        </p:txBody>
      </p:sp>
      <p:sp>
        <p:nvSpPr>
          <p:cNvPr id="23" name="Rounded Rectangle 22"/>
          <p:cNvSpPr/>
          <p:nvPr/>
        </p:nvSpPr>
        <p:spPr>
          <a:xfrm>
            <a:off x="731520" y="4078224"/>
            <a:ext cx="2743200" cy="713232"/>
          </a:xfrm>
          <a:prstGeom prst="roundRect">
            <a:avLst/>
          </a:prstGeom>
          <a:solidFill>
            <a:srgbClr val="FFFFFF"/>
          </a:solidFill>
          <a:ln w="15240">
            <a:solidFill>
              <a:srgbClr val="E0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31520" y="4078224"/>
            <a:ext cx="64008" cy="713232"/>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32688" y="4224528"/>
            <a:ext cx="2423160" cy="365760"/>
          </a:xfrm>
          <a:prstGeom prst="rect">
            <a:avLst/>
          </a:prstGeom>
          <a:noFill/>
        </p:spPr>
        <p:txBody>
          <a:bodyPr wrap="none">
            <a:spAutoFit/>
          </a:bodyPr>
          <a:lstStyle/>
          <a:p>
            <a:r>
              <a:rPr sz="1300" b="1">
                <a:solidFill>
                  <a:srgbClr val="183A8A"/>
                </a:solidFill>
                <a:latin typeface="Aptos"/>
              </a:rPr>
              <a:t>DAX / Visual configuration</a:t>
            </a:r>
          </a:p>
        </p:txBody>
      </p:sp>
      <p:sp>
        <p:nvSpPr>
          <p:cNvPr id="26" name="TextBox 25"/>
          <p:cNvSpPr txBox="1"/>
          <p:nvPr/>
        </p:nvSpPr>
        <p:spPr>
          <a:xfrm>
            <a:off x="932688" y="4645152"/>
            <a:ext cx="2423160" cy="27432"/>
          </a:xfrm>
          <a:prstGeom prst="rect">
            <a:avLst/>
          </a:prstGeom>
          <a:noFill/>
        </p:spPr>
        <p:txBody>
          <a:bodyPr wrap="square">
            <a:spAutoFit/>
          </a:bodyPr>
          <a:lstStyle/>
          <a:p>
            <a:pPr>
              <a:defRPr sz="950">
                <a:solidFill>
                  <a:srgbClr val="23262D"/>
                </a:solidFill>
                <a:latin typeface="Aptos"/>
              </a:defRPr>
            </a:pPr>
            <a:r>
              <a:t>Measures, KPIs and presentation</a:t>
            </a:r>
          </a:p>
        </p:txBody>
      </p:sp>
      <p:sp>
        <p:nvSpPr>
          <p:cNvPr id="27" name="Right Arrow 26"/>
          <p:cNvSpPr/>
          <p:nvPr/>
        </p:nvSpPr>
        <p:spPr>
          <a:xfrm>
            <a:off x="3703320" y="4224528"/>
            <a:ext cx="502920" cy="384048"/>
          </a:xfrm>
          <a:prstGeom prst="rightArrow">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34840" y="4151376"/>
            <a:ext cx="6675120" cy="502920"/>
          </a:xfrm>
          <a:prstGeom prst="rect">
            <a:avLst/>
          </a:prstGeom>
          <a:noFill/>
        </p:spPr>
        <p:txBody>
          <a:bodyPr wrap="none">
            <a:spAutoFit/>
          </a:bodyPr>
          <a:lstStyle/>
          <a:p>
            <a:r>
              <a:rPr sz="1400" b="1">
                <a:solidFill>
                  <a:srgbClr val="23262D"/>
                </a:solidFill>
              </a:rPr>
              <a:t>Business calculations &amp; UX</a:t>
            </a:r>
          </a:p>
        </p:txBody>
      </p:sp>
      <p:sp>
        <p:nvSpPr>
          <p:cNvPr id="29" name="Rounded Rectangle 28"/>
          <p:cNvSpPr/>
          <p:nvPr/>
        </p:nvSpPr>
        <p:spPr>
          <a:xfrm>
            <a:off x="731520" y="5010912"/>
            <a:ext cx="2743200" cy="713232"/>
          </a:xfrm>
          <a:prstGeom prst="roundRect">
            <a:avLst/>
          </a:prstGeom>
          <a:solidFill>
            <a:srgbClr val="FFFFFF"/>
          </a:solidFill>
          <a:ln w="15240">
            <a:solidFill>
              <a:srgbClr val="E0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31520" y="5010912"/>
            <a:ext cx="64008" cy="713232"/>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32688" y="5157216"/>
            <a:ext cx="2423160" cy="365760"/>
          </a:xfrm>
          <a:prstGeom prst="rect">
            <a:avLst/>
          </a:prstGeom>
          <a:noFill/>
        </p:spPr>
        <p:txBody>
          <a:bodyPr wrap="none">
            <a:spAutoFit/>
          </a:bodyPr>
          <a:lstStyle/>
          <a:p>
            <a:r>
              <a:rPr sz="1300" b="1">
                <a:solidFill>
                  <a:srgbClr val="183A8A"/>
                </a:solidFill>
                <a:latin typeface="Aptos"/>
              </a:rPr>
              <a:t>PowerPoint</a:t>
            </a:r>
          </a:p>
        </p:txBody>
      </p:sp>
      <p:sp>
        <p:nvSpPr>
          <p:cNvPr id="32" name="TextBox 31"/>
          <p:cNvSpPr txBox="1"/>
          <p:nvPr/>
        </p:nvSpPr>
        <p:spPr>
          <a:xfrm>
            <a:off x="932688" y="5577840"/>
            <a:ext cx="2423160" cy="27432"/>
          </a:xfrm>
          <a:prstGeom prst="rect">
            <a:avLst/>
          </a:prstGeom>
          <a:noFill/>
        </p:spPr>
        <p:txBody>
          <a:bodyPr wrap="square">
            <a:spAutoFit/>
          </a:bodyPr>
          <a:lstStyle/>
          <a:p>
            <a:pPr>
              <a:defRPr sz="950">
                <a:solidFill>
                  <a:srgbClr val="23262D"/>
                </a:solidFill>
                <a:latin typeface="Aptos"/>
              </a:defRPr>
            </a:pPr>
            <a:r>
              <a:t>Project communication</a:t>
            </a:r>
          </a:p>
        </p:txBody>
      </p:sp>
      <p:sp>
        <p:nvSpPr>
          <p:cNvPr id="33" name="Right Arrow 32"/>
          <p:cNvSpPr/>
          <p:nvPr/>
        </p:nvSpPr>
        <p:spPr>
          <a:xfrm>
            <a:off x="3703320" y="5157216"/>
            <a:ext cx="502920" cy="384048"/>
          </a:xfrm>
          <a:prstGeom prst="rightArrow">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434840" y="5084064"/>
            <a:ext cx="6675120" cy="502920"/>
          </a:xfrm>
          <a:prstGeom prst="rect">
            <a:avLst/>
          </a:prstGeom>
          <a:noFill/>
        </p:spPr>
        <p:txBody>
          <a:bodyPr wrap="none">
            <a:spAutoFit/>
          </a:bodyPr>
          <a:lstStyle/>
          <a:p>
            <a:r>
              <a:rPr sz="1400" b="1">
                <a:solidFill>
                  <a:srgbClr val="23262D"/>
                </a:solidFill>
              </a:rPr>
              <a:t>Presentation / viva</a:t>
            </a:r>
          </a:p>
        </p:txBody>
      </p:sp>
      <p:sp>
        <p:nvSpPr>
          <p:cNvPr id="35" name="Rectangle 34"/>
          <p:cNvSpPr/>
          <p:nvPr/>
        </p:nvSpPr>
        <p:spPr>
          <a:xfrm>
            <a:off x="594360" y="6510528"/>
            <a:ext cx="10972800" cy="9144"/>
          </a:xfrm>
          <a:prstGeom prst="rect">
            <a:avLst/>
          </a:prstGeom>
          <a:solidFill>
            <a:srgbClr val="E0E4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1792" y="6547104"/>
            <a:ext cx="9144000" cy="182880"/>
          </a:xfrm>
          <a:prstGeom prst="rect">
            <a:avLst/>
          </a:prstGeom>
          <a:noFill/>
        </p:spPr>
        <p:txBody>
          <a:bodyPr wrap="none">
            <a:spAutoFit/>
          </a:bodyPr>
          <a:lstStyle/>
          <a:p>
            <a:r>
              <a:rPr sz="800">
                <a:solidFill>
                  <a:srgbClr val="5C626E"/>
                </a:solidFill>
              </a:rPr>
              <a:t>Insurance Claims &amp; Fraud Analysis | Capstone Project</a:t>
            </a:r>
          </a:p>
        </p:txBody>
      </p:sp>
      <p:sp>
        <p:nvSpPr>
          <p:cNvPr id="37" name="TextBox 36"/>
          <p:cNvSpPr txBox="1"/>
          <p:nvPr/>
        </p:nvSpPr>
        <p:spPr>
          <a:xfrm>
            <a:off x="11155680" y="6519672"/>
            <a:ext cx="365760" cy="182880"/>
          </a:xfrm>
          <a:prstGeom prst="rect">
            <a:avLst/>
          </a:prstGeom>
          <a:noFill/>
        </p:spPr>
        <p:txBody>
          <a:bodyPr wrap="none">
            <a:spAutoFit/>
          </a:bodyPr>
          <a:lstStyle/>
          <a:p>
            <a:pPr algn="r"/>
            <a:r>
              <a:rPr sz="800">
                <a:solidFill>
                  <a:srgbClr val="5C626E"/>
                </a:solidFill>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594360"/>
          </a:xfrm>
          <a:prstGeom prst="rect">
            <a:avLst/>
          </a:prstGeom>
          <a:noFill/>
        </p:spPr>
        <p:txBody>
          <a:bodyPr wrap="none">
            <a:spAutoFit/>
          </a:bodyPr>
          <a:lstStyle/>
          <a:p>
            <a:r>
              <a:rPr sz="2500" b="1">
                <a:solidFill>
                  <a:srgbClr val="183A8A"/>
                </a:solidFill>
                <a:latin typeface="Aptos Display"/>
              </a:rPr>
              <a:t>5. SQL Analysis Workflow</a:t>
            </a:r>
          </a:p>
        </p:txBody>
      </p:sp>
      <p:sp>
        <p:nvSpPr>
          <p:cNvPr id="4" name="TextBox 3"/>
          <p:cNvSpPr txBox="1"/>
          <p:nvPr/>
        </p:nvSpPr>
        <p:spPr>
          <a:xfrm>
            <a:off x="612648" y="896112"/>
            <a:ext cx="10789920" cy="320040"/>
          </a:xfrm>
          <a:prstGeom prst="rect">
            <a:avLst/>
          </a:prstGeom>
          <a:noFill/>
        </p:spPr>
        <p:txBody>
          <a:bodyPr wrap="none">
            <a:spAutoFit/>
          </a:bodyPr>
          <a:lstStyle/>
          <a:p>
            <a:r>
              <a:rPr sz="1050">
                <a:solidFill>
                  <a:srgbClr val="5C626E"/>
                </a:solidFill>
                <a:latin typeface="Aptos"/>
              </a:rPr>
              <a:t>From basic exploration to reusable analytical components</a:t>
            </a:r>
          </a:p>
        </p:txBody>
      </p:sp>
      <p:sp>
        <p:nvSpPr>
          <p:cNvPr id="5" name="Oval 4"/>
          <p:cNvSpPr/>
          <p:nvPr/>
        </p:nvSpPr>
        <p:spPr>
          <a:xfrm>
            <a:off x="731520" y="1417320"/>
            <a:ext cx="594360" cy="594360"/>
          </a:xfrm>
          <a:prstGeom prst="ellipse">
            <a:avLst/>
          </a:prstGeom>
          <a:solidFill>
            <a:srgbClr val="3F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508760"/>
            <a:ext cx="594360" cy="274320"/>
          </a:xfrm>
          <a:prstGeom prst="rect">
            <a:avLst/>
          </a:prstGeom>
          <a:noFill/>
        </p:spPr>
        <p:txBody>
          <a:bodyPr wrap="none">
            <a:spAutoFit/>
          </a:bodyPr>
          <a:lstStyle/>
          <a:p>
            <a:pPr algn="ctr"/>
            <a:r>
              <a:rPr sz="1500" b="1">
                <a:solidFill>
                  <a:srgbClr val="FFFFFF"/>
                </a:solidFill>
              </a:rPr>
              <a:t>1</a:t>
            </a:r>
          </a:p>
        </p:txBody>
      </p:sp>
      <p:sp>
        <p:nvSpPr>
          <p:cNvPr id="7" name="Rounded Rectangle 6"/>
          <p:cNvSpPr/>
          <p:nvPr/>
        </p:nvSpPr>
        <p:spPr>
          <a:xfrm>
            <a:off x="1481328" y="1399032"/>
            <a:ext cx="2834640" cy="1417320"/>
          </a:xfrm>
          <a:prstGeom prst="roundRect">
            <a:avLst/>
          </a:prstGeom>
          <a:solidFill>
            <a:srgbClr val="FFFFFF"/>
          </a:solidFill>
          <a:ln w="15240">
            <a:solidFill>
              <a:srgbClr val="E0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481328" y="1399032"/>
            <a:ext cx="64008" cy="1417320"/>
          </a:xfrm>
          <a:prstGeom prst="rect">
            <a:avLst/>
          </a:prstGeom>
          <a:solidFill>
            <a:srgbClr val="3498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682496" y="1545336"/>
            <a:ext cx="2514600" cy="365760"/>
          </a:xfrm>
          <a:prstGeom prst="rect">
            <a:avLst/>
          </a:prstGeom>
          <a:noFill/>
        </p:spPr>
        <p:txBody>
          <a:bodyPr wrap="none">
            <a:spAutoFit/>
          </a:bodyPr>
          <a:lstStyle/>
          <a:p>
            <a:r>
              <a:rPr sz="1400" b="1">
                <a:solidFill>
                  <a:srgbClr val="183A8A"/>
                </a:solidFill>
                <a:latin typeface="Aptos"/>
              </a:rPr>
              <a:t>Explore</a:t>
            </a:r>
          </a:p>
        </p:txBody>
      </p:sp>
      <p:sp>
        <p:nvSpPr>
          <p:cNvPr id="10" name="TextBox 9"/>
          <p:cNvSpPr txBox="1"/>
          <p:nvPr/>
        </p:nvSpPr>
        <p:spPr>
          <a:xfrm>
            <a:off x="1682496" y="1965960"/>
            <a:ext cx="2514600" cy="731520"/>
          </a:xfrm>
          <a:prstGeom prst="rect">
            <a:avLst/>
          </a:prstGeom>
          <a:noFill/>
        </p:spPr>
        <p:txBody>
          <a:bodyPr wrap="square">
            <a:spAutoFit/>
          </a:bodyPr>
          <a:lstStyle/>
          <a:p>
            <a:pPr>
              <a:defRPr sz="1050">
                <a:solidFill>
                  <a:srgbClr val="23262D"/>
                </a:solidFill>
                <a:latin typeface="Aptos"/>
              </a:defRPr>
            </a:pPr>
            <a:r>
              <a:t>SELECT, DISTINCT, WHERE, BETWEEN, comparisons, ORDER BY</a:t>
            </a:r>
          </a:p>
        </p:txBody>
      </p:sp>
      <p:sp>
        <p:nvSpPr>
          <p:cNvPr id="11" name="Oval 10"/>
          <p:cNvSpPr/>
          <p:nvPr/>
        </p:nvSpPr>
        <p:spPr>
          <a:xfrm>
            <a:off x="4434840" y="1417320"/>
            <a:ext cx="594360" cy="594360"/>
          </a:xfrm>
          <a:prstGeom prst="ellipse">
            <a:avLst/>
          </a:prstGeom>
          <a:solidFill>
            <a:srgbClr val="3F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34840" y="1508760"/>
            <a:ext cx="594360" cy="274320"/>
          </a:xfrm>
          <a:prstGeom prst="rect">
            <a:avLst/>
          </a:prstGeom>
          <a:noFill/>
        </p:spPr>
        <p:txBody>
          <a:bodyPr wrap="none">
            <a:spAutoFit/>
          </a:bodyPr>
          <a:lstStyle/>
          <a:p>
            <a:pPr algn="ctr"/>
            <a:r>
              <a:rPr sz="1500" b="1">
                <a:solidFill>
                  <a:srgbClr val="FFFFFF"/>
                </a:solidFill>
              </a:rPr>
              <a:t>2</a:t>
            </a:r>
          </a:p>
        </p:txBody>
      </p:sp>
      <p:sp>
        <p:nvSpPr>
          <p:cNvPr id="13" name="Rounded Rectangle 12"/>
          <p:cNvSpPr/>
          <p:nvPr/>
        </p:nvSpPr>
        <p:spPr>
          <a:xfrm>
            <a:off x="5184648" y="1399032"/>
            <a:ext cx="2834640" cy="1417320"/>
          </a:xfrm>
          <a:prstGeom prst="roundRect">
            <a:avLst/>
          </a:prstGeom>
          <a:solidFill>
            <a:srgbClr val="FFFFFF"/>
          </a:solidFill>
          <a:ln w="15240">
            <a:solidFill>
              <a:srgbClr val="E0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184648" y="1399032"/>
            <a:ext cx="64008" cy="1417320"/>
          </a:xfrm>
          <a:prstGeom prst="rect">
            <a:avLst/>
          </a:prstGeom>
          <a:solidFill>
            <a:srgbClr val="16A0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385816" y="1545336"/>
            <a:ext cx="2514600" cy="365760"/>
          </a:xfrm>
          <a:prstGeom prst="rect">
            <a:avLst/>
          </a:prstGeom>
          <a:noFill/>
        </p:spPr>
        <p:txBody>
          <a:bodyPr wrap="none">
            <a:spAutoFit/>
          </a:bodyPr>
          <a:lstStyle/>
          <a:p>
            <a:r>
              <a:rPr sz="1400" b="1">
                <a:solidFill>
                  <a:srgbClr val="183A8A"/>
                </a:solidFill>
                <a:latin typeface="Aptos"/>
              </a:rPr>
              <a:t>Summarize</a:t>
            </a:r>
          </a:p>
        </p:txBody>
      </p:sp>
      <p:sp>
        <p:nvSpPr>
          <p:cNvPr id="16" name="TextBox 15"/>
          <p:cNvSpPr txBox="1"/>
          <p:nvPr/>
        </p:nvSpPr>
        <p:spPr>
          <a:xfrm>
            <a:off x="5385816" y="1965960"/>
            <a:ext cx="2514600" cy="731520"/>
          </a:xfrm>
          <a:prstGeom prst="rect">
            <a:avLst/>
          </a:prstGeom>
          <a:noFill/>
        </p:spPr>
        <p:txBody>
          <a:bodyPr wrap="square">
            <a:spAutoFit/>
          </a:bodyPr>
          <a:lstStyle/>
          <a:p>
            <a:pPr>
              <a:defRPr sz="1050">
                <a:solidFill>
                  <a:srgbClr val="23262D"/>
                </a:solidFill>
                <a:latin typeface="Aptos"/>
              </a:defRPr>
            </a:pPr>
            <a:r>
              <a:t>COUNT, SUM, AVG, MAX, MIN with GROUP BY</a:t>
            </a:r>
          </a:p>
        </p:txBody>
      </p:sp>
      <p:sp>
        <p:nvSpPr>
          <p:cNvPr id="17" name="Oval 16"/>
          <p:cNvSpPr/>
          <p:nvPr/>
        </p:nvSpPr>
        <p:spPr>
          <a:xfrm>
            <a:off x="8138160" y="1417320"/>
            <a:ext cx="594360" cy="594360"/>
          </a:xfrm>
          <a:prstGeom prst="ellipse">
            <a:avLst/>
          </a:prstGeom>
          <a:solidFill>
            <a:srgbClr val="3F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38160" y="1508760"/>
            <a:ext cx="594360" cy="274320"/>
          </a:xfrm>
          <a:prstGeom prst="rect">
            <a:avLst/>
          </a:prstGeom>
          <a:noFill/>
        </p:spPr>
        <p:txBody>
          <a:bodyPr wrap="none">
            <a:spAutoFit/>
          </a:bodyPr>
          <a:lstStyle/>
          <a:p>
            <a:pPr algn="ctr"/>
            <a:r>
              <a:rPr sz="1500" b="1">
                <a:solidFill>
                  <a:srgbClr val="FFFFFF"/>
                </a:solidFill>
              </a:rPr>
              <a:t>3</a:t>
            </a:r>
          </a:p>
        </p:txBody>
      </p:sp>
      <p:sp>
        <p:nvSpPr>
          <p:cNvPr id="19" name="Rounded Rectangle 18"/>
          <p:cNvSpPr/>
          <p:nvPr/>
        </p:nvSpPr>
        <p:spPr>
          <a:xfrm>
            <a:off x="8887968" y="1399032"/>
            <a:ext cx="2834640" cy="1417320"/>
          </a:xfrm>
          <a:prstGeom prst="roundRect">
            <a:avLst/>
          </a:prstGeom>
          <a:solidFill>
            <a:srgbClr val="FFFFFF"/>
          </a:solidFill>
          <a:ln w="15240">
            <a:solidFill>
              <a:srgbClr val="E0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887968" y="1399032"/>
            <a:ext cx="64008" cy="1417320"/>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089136" y="1545336"/>
            <a:ext cx="2514600" cy="365760"/>
          </a:xfrm>
          <a:prstGeom prst="rect">
            <a:avLst/>
          </a:prstGeom>
          <a:noFill/>
        </p:spPr>
        <p:txBody>
          <a:bodyPr wrap="none">
            <a:spAutoFit/>
          </a:bodyPr>
          <a:lstStyle/>
          <a:p>
            <a:r>
              <a:rPr sz="1400" b="1">
                <a:solidFill>
                  <a:srgbClr val="183A8A"/>
                </a:solidFill>
                <a:latin typeface="Aptos"/>
              </a:rPr>
              <a:t>Classify</a:t>
            </a:r>
          </a:p>
        </p:txBody>
      </p:sp>
      <p:sp>
        <p:nvSpPr>
          <p:cNvPr id="22" name="TextBox 21"/>
          <p:cNvSpPr txBox="1"/>
          <p:nvPr/>
        </p:nvSpPr>
        <p:spPr>
          <a:xfrm>
            <a:off x="9089136" y="1965960"/>
            <a:ext cx="2514600" cy="731520"/>
          </a:xfrm>
          <a:prstGeom prst="rect">
            <a:avLst/>
          </a:prstGeom>
          <a:noFill/>
        </p:spPr>
        <p:txBody>
          <a:bodyPr wrap="square">
            <a:spAutoFit/>
          </a:bodyPr>
          <a:lstStyle/>
          <a:p>
            <a:pPr>
              <a:defRPr sz="1050">
                <a:solidFill>
                  <a:srgbClr val="23262D"/>
                </a:solidFill>
                <a:latin typeface="Aptos"/>
              </a:defRPr>
            </a:pPr>
            <a:r>
              <a:t>CASE expressions for risk/business categories</a:t>
            </a:r>
          </a:p>
        </p:txBody>
      </p:sp>
      <p:sp>
        <p:nvSpPr>
          <p:cNvPr id="23" name="Oval 22"/>
          <p:cNvSpPr/>
          <p:nvPr/>
        </p:nvSpPr>
        <p:spPr>
          <a:xfrm>
            <a:off x="731520" y="3474720"/>
            <a:ext cx="594360" cy="594360"/>
          </a:xfrm>
          <a:prstGeom prst="ellipse">
            <a:avLst/>
          </a:prstGeom>
          <a:solidFill>
            <a:srgbClr val="3F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1520" y="3566160"/>
            <a:ext cx="594360" cy="274320"/>
          </a:xfrm>
          <a:prstGeom prst="rect">
            <a:avLst/>
          </a:prstGeom>
          <a:noFill/>
        </p:spPr>
        <p:txBody>
          <a:bodyPr wrap="none">
            <a:spAutoFit/>
          </a:bodyPr>
          <a:lstStyle/>
          <a:p>
            <a:pPr algn="ctr"/>
            <a:r>
              <a:rPr sz="1500" b="1">
                <a:solidFill>
                  <a:srgbClr val="FFFFFF"/>
                </a:solidFill>
              </a:rPr>
              <a:t>4</a:t>
            </a:r>
          </a:p>
        </p:txBody>
      </p:sp>
      <p:sp>
        <p:nvSpPr>
          <p:cNvPr id="25" name="Rounded Rectangle 24"/>
          <p:cNvSpPr/>
          <p:nvPr/>
        </p:nvSpPr>
        <p:spPr>
          <a:xfrm>
            <a:off x="1481328" y="3456432"/>
            <a:ext cx="2834640" cy="1417320"/>
          </a:xfrm>
          <a:prstGeom prst="roundRect">
            <a:avLst/>
          </a:prstGeom>
          <a:solidFill>
            <a:srgbClr val="FFFFFF"/>
          </a:solidFill>
          <a:ln w="15240">
            <a:solidFill>
              <a:srgbClr val="E0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481328" y="3456432"/>
            <a:ext cx="64008" cy="14173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682496" y="3602736"/>
            <a:ext cx="2514600" cy="365760"/>
          </a:xfrm>
          <a:prstGeom prst="rect">
            <a:avLst/>
          </a:prstGeom>
          <a:noFill/>
        </p:spPr>
        <p:txBody>
          <a:bodyPr wrap="none">
            <a:spAutoFit/>
          </a:bodyPr>
          <a:lstStyle/>
          <a:p>
            <a:r>
              <a:rPr sz="1400" b="1">
                <a:solidFill>
                  <a:srgbClr val="183A8A"/>
                </a:solidFill>
                <a:latin typeface="Aptos"/>
              </a:rPr>
              <a:t>Deep dive</a:t>
            </a:r>
          </a:p>
        </p:txBody>
      </p:sp>
      <p:sp>
        <p:nvSpPr>
          <p:cNvPr id="28" name="TextBox 27"/>
          <p:cNvSpPr txBox="1"/>
          <p:nvPr/>
        </p:nvSpPr>
        <p:spPr>
          <a:xfrm>
            <a:off x="1682496" y="4023359"/>
            <a:ext cx="2514600" cy="731520"/>
          </a:xfrm>
          <a:prstGeom prst="rect">
            <a:avLst/>
          </a:prstGeom>
          <a:noFill/>
        </p:spPr>
        <p:txBody>
          <a:bodyPr wrap="square">
            <a:spAutoFit/>
          </a:bodyPr>
          <a:lstStyle/>
          <a:p>
            <a:pPr>
              <a:defRPr sz="1050">
                <a:solidFill>
                  <a:srgbClr val="23262D"/>
                </a:solidFill>
                <a:latin typeface="Aptos"/>
              </a:defRPr>
            </a:pPr>
            <a:r>
              <a:t>Subqueries for above-average, highest/lowest and regional comparisons</a:t>
            </a:r>
          </a:p>
        </p:txBody>
      </p:sp>
      <p:sp>
        <p:nvSpPr>
          <p:cNvPr id="29" name="Oval 28"/>
          <p:cNvSpPr/>
          <p:nvPr/>
        </p:nvSpPr>
        <p:spPr>
          <a:xfrm>
            <a:off x="4434840" y="3474720"/>
            <a:ext cx="594360" cy="594360"/>
          </a:xfrm>
          <a:prstGeom prst="ellipse">
            <a:avLst/>
          </a:prstGeom>
          <a:solidFill>
            <a:srgbClr val="3F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434840" y="3566160"/>
            <a:ext cx="594360" cy="274320"/>
          </a:xfrm>
          <a:prstGeom prst="rect">
            <a:avLst/>
          </a:prstGeom>
          <a:noFill/>
        </p:spPr>
        <p:txBody>
          <a:bodyPr wrap="none">
            <a:spAutoFit/>
          </a:bodyPr>
          <a:lstStyle/>
          <a:p>
            <a:pPr algn="ctr"/>
            <a:r>
              <a:rPr sz="1500" b="1">
                <a:solidFill>
                  <a:srgbClr val="FFFFFF"/>
                </a:solidFill>
              </a:rPr>
              <a:t>5</a:t>
            </a:r>
          </a:p>
        </p:txBody>
      </p:sp>
      <p:sp>
        <p:nvSpPr>
          <p:cNvPr id="31" name="Rounded Rectangle 30"/>
          <p:cNvSpPr/>
          <p:nvPr/>
        </p:nvSpPr>
        <p:spPr>
          <a:xfrm>
            <a:off x="5184648" y="3456432"/>
            <a:ext cx="2834640" cy="1417320"/>
          </a:xfrm>
          <a:prstGeom prst="roundRect">
            <a:avLst/>
          </a:prstGeom>
          <a:solidFill>
            <a:srgbClr val="FFFFFF"/>
          </a:solidFill>
          <a:ln w="15240">
            <a:solidFill>
              <a:srgbClr val="E0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184648" y="3456432"/>
            <a:ext cx="64008" cy="1417320"/>
          </a:xfrm>
          <a:prstGeom prst="rect">
            <a:avLst/>
          </a:prstGeom>
          <a:solidFill>
            <a:srgbClr val="5B5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385816" y="3602736"/>
            <a:ext cx="2514600" cy="365760"/>
          </a:xfrm>
          <a:prstGeom prst="rect">
            <a:avLst/>
          </a:prstGeom>
          <a:noFill/>
        </p:spPr>
        <p:txBody>
          <a:bodyPr wrap="none">
            <a:spAutoFit/>
          </a:bodyPr>
          <a:lstStyle/>
          <a:p>
            <a:r>
              <a:rPr sz="1400" b="1">
                <a:solidFill>
                  <a:srgbClr val="183A8A"/>
                </a:solidFill>
                <a:latin typeface="Aptos"/>
              </a:rPr>
              <a:t>Rank</a:t>
            </a:r>
          </a:p>
        </p:txBody>
      </p:sp>
      <p:sp>
        <p:nvSpPr>
          <p:cNvPr id="34" name="TextBox 33"/>
          <p:cNvSpPr txBox="1"/>
          <p:nvPr/>
        </p:nvSpPr>
        <p:spPr>
          <a:xfrm>
            <a:off x="5385816" y="4023359"/>
            <a:ext cx="2514600" cy="731520"/>
          </a:xfrm>
          <a:prstGeom prst="rect">
            <a:avLst/>
          </a:prstGeom>
          <a:noFill/>
        </p:spPr>
        <p:txBody>
          <a:bodyPr wrap="square">
            <a:spAutoFit/>
          </a:bodyPr>
          <a:lstStyle/>
          <a:p>
            <a:pPr>
              <a:defRPr sz="1050">
                <a:solidFill>
                  <a:srgbClr val="23262D"/>
                </a:solidFill>
                <a:latin typeface="Aptos"/>
              </a:defRPr>
            </a:pPr>
            <a:r>
              <a:t>RANK, DENSE_RANK, ROW_NUMBER and top-N analysis</a:t>
            </a:r>
          </a:p>
        </p:txBody>
      </p:sp>
      <p:sp>
        <p:nvSpPr>
          <p:cNvPr id="35" name="Oval 34"/>
          <p:cNvSpPr/>
          <p:nvPr/>
        </p:nvSpPr>
        <p:spPr>
          <a:xfrm>
            <a:off x="8138160" y="3474720"/>
            <a:ext cx="594360" cy="594360"/>
          </a:xfrm>
          <a:prstGeom prst="ellipse">
            <a:avLst/>
          </a:prstGeom>
          <a:solidFill>
            <a:srgbClr val="3F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138160" y="3566160"/>
            <a:ext cx="594360" cy="274320"/>
          </a:xfrm>
          <a:prstGeom prst="rect">
            <a:avLst/>
          </a:prstGeom>
          <a:noFill/>
        </p:spPr>
        <p:txBody>
          <a:bodyPr wrap="none">
            <a:spAutoFit/>
          </a:bodyPr>
          <a:lstStyle/>
          <a:p>
            <a:pPr algn="ctr"/>
            <a:r>
              <a:rPr sz="1500" b="1">
                <a:solidFill>
                  <a:srgbClr val="FFFFFF"/>
                </a:solidFill>
              </a:rPr>
              <a:t>6</a:t>
            </a:r>
          </a:p>
        </p:txBody>
      </p:sp>
      <p:sp>
        <p:nvSpPr>
          <p:cNvPr id="37" name="Rounded Rectangle 36"/>
          <p:cNvSpPr/>
          <p:nvPr/>
        </p:nvSpPr>
        <p:spPr>
          <a:xfrm>
            <a:off x="8887968" y="3456432"/>
            <a:ext cx="2834640" cy="1417320"/>
          </a:xfrm>
          <a:prstGeom prst="roundRect">
            <a:avLst/>
          </a:prstGeom>
          <a:solidFill>
            <a:srgbClr val="FFFFFF"/>
          </a:solidFill>
          <a:ln w="15240">
            <a:solidFill>
              <a:srgbClr val="E0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887968" y="3456432"/>
            <a:ext cx="64008" cy="1417320"/>
          </a:xfrm>
          <a:prstGeom prst="rect">
            <a:avLst/>
          </a:prstGeom>
          <a:solidFill>
            <a:srgbClr val="18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089136" y="3602736"/>
            <a:ext cx="2514600" cy="365760"/>
          </a:xfrm>
          <a:prstGeom prst="rect">
            <a:avLst/>
          </a:prstGeom>
          <a:noFill/>
        </p:spPr>
        <p:txBody>
          <a:bodyPr wrap="none">
            <a:spAutoFit/>
          </a:bodyPr>
          <a:lstStyle/>
          <a:p>
            <a:r>
              <a:rPr sz="1400" b="1">
                <a:solidFill>
                  <a:srgbClr val="183A8A"/>
                </a:solidFill>
                <a:latin typeface="Aptos"/>
              </a:rPr>
              <a:t>Reuse</a:t>
            </a:r>
          </a:p>
        </p:txBody>
      </p:sp>
      <p:sp>
        <p:nvSpPr>
          <p:cNvPr id="40" name="TextBox 39"/>
          <p:cNvSpPr txBox="1"/>
          <p:nvPr/>
        </p:nvSpPr>
        <p:spPr>
          <a:xfrm>
            <a:off x="9089136" y="4023359"/>
            <a:ext cx="2514600" cy="731520"/>
          </a:xfrm>
          <a:prstGeom prst="rect">
            <a:avLst/>
          </a:prstGeom>
          <a:noFill/>
        </p:spPr>
        <p:txBody>
          <a:bodyPr wrap="square">
            <a:spAutoFit/>
          </a:bodyPr>
          <a:lstStyle/>
          <a:p>
            <a:pPr>
              <a:defRPr sz="1050">
                <a:solidFill>
                  <a:srgbClr val="23262D"/>
                </a:solidFill>
                <a:latin typeface="Aptos"/>
              </a:defRPr>
            </a:pPr>
            <a:r>
              <a:t>Views and stored procedures for repeatable reporting</a:t>
            </a:r>
          </a:p>
        </p:txBody>
      </p:sp>
      <p:sp>
        <p:nvSpPr>
          <p:cNvPr id="41" name="Rectangle 40"/>
          <p:cNvSpPr/>
          <p:nvPr/>
        </p:nvSpPr>
        <p:spPr>
          <a:xfrm>
            <a:off x="594360" y="6510528"/>
            <a:ext cx="10972800" cy="9144"/>
          </a:xfrm>
          <a:prstGeom prst="rect">
            <a:avLst/>
          </a:prstGeom>
          <a:solidFill>
            <a:srgbClr val="E0E4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21792" y="6547104"/>
            <a:ext cx="9144000" cy="182880"/>
          </a:xfrm>
          <a:prstGeom prst="rect">
            <a:avLst/>
          </a:prstGeom>
          <a:noFill/>
        </p:spPr>
        <p:txBody>
          <a:bodyPr wrap="none">
            <a:spAutoFit/>
          </a:bodyPr>
          <a:lstStyle/>
          <a:p>
            <a:r>
              <a:rPr sz="800">
                <a:solidFill>
                  <a:srgbClr val="5C626E"/>
                </a:solidFill>
              </a:rPr>
              <a:t>Insurance Claims &amp; Fraud Analysis | Capstone Project</a:t>
            </a:r>
          </a:p>
        </p:txBody>
      </p:sp>
      <p:sp>
        <p:nvSpPr>
          <p:cNvPr id="43" name="TextBox 42"/>
          <p:cNvSpPr txBox="1"/>
          <p:nvPr/>
        </p:nvSpPr>
        <p:spPr>
          <a:xfrm>
            <a:off x="11155680" y="6519672"/>
            <a:ext cx="365760" cy="182880"/>
          </a:xfrm>
          <a:prstGeom prst="rect">
            <a:avLst/>
          </a:prstGeom>
          <a:noFill/>
        </p:spPr>
        <p:txBody>
          <a:bodyPr wrap="none">
            <a:spAutoFit/>
          </a:bodyPr>
          <a:lstStyle/>
          <a:p>
            <a:pPr algn="r"/>
            <a:r>
              <a:rPr sz="800">
                <a:solidFill>
                  <a:srgbClr val="5C626E"/>
                </a:solidFill>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594360"/>
          </a:xfrm>
          <a:prstGeom prst="rect">
            <a:avLst/>
          </a:prstGeom>
          <a:noFill/>
        </p:spPr>
        <p:txBody>
          <a:bodyPr wrap="none">
            <a:spAutoFit/>
          </a:bodyPr>
          <a:lstStyle/>
          <a:p>
            <a:r>
              <a:rPr sz="2500" b="1">
                <a:solidFill>
                  <a:srgbClr val="183A8A"/>
                </a:solidFill>
                <a:latin typeface="Aptos Display"/>
              </a:rPr>
              <a:t>6. SQL Techniques — Examples</a:t>
            </a:r>
          </a:p>
        </p:txBody>
      </p:sp>
      <p:sp>
        <p:nvSpPr>
          <p:cNvPr id="4" name="TextBox 3"/>
          <p:cNvSpPr txBox="1"/>
          <p:nvPr/>
        </p:nvSpPr>
        <p:spPr>
          <a:xfrm>
            <a:off x="612648" y="896112"/>
            <a:ext cx="10789920" cy="320040"/>
          </a:xfrm>
          <a:prstGeom prst="rect">
            <a:avLst/>
          </a:prstGeom>
          <a:noFill/>
        </p:spPr>
        <p:txBody>
          <a:bodyPr wrap="none">
            <a:spAutoFit/>
          </a:bodyPr>
          <a:lstStyle/>
          <a:p>
            <a:r>
              <a:rPr sz="1050">
                <a:solidFill>
                  <a:srgbClr val="5C626E"/>
                </a:solidFill>
                <a:latin typeface="Aptos"/>
              </a:rPr>
              <a:t>Representative queries used in the project</a:t>
            </a:r>
          </a:p>
        </p:txBody>
      </p:sp>
      <p:sp>
        <p:nvSpPr>
          <p:cNvPr id="5" name="Rounded Rectangle 4"/>
          <p:cNvSpPr/>
          <p:nvPr/>
        </p:nvSpPr>
        <p:spPr>
          <a:xfrm>
            <a:off x="685800" y="1325880"/>
            <a:ext cx="5394960" cy="1828800"/>
          </a:xfrm>
          <a:prstGeom prst="roundRect">
            <a:avLst/>
          </a:prstGeom>
          <a:solidFill>
            <a:srgbClr val="1C1F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472184"/>
            <a:ext cx="5029200" cy="1554480"/>
          </a:xfrm>
          <a:prstGeom prst="rect">
            <a:avLst/>
          </a:prstGeom>
          <a:noFill/>
        </p:spPr>
        <p:txBody>
          <a:bodyPr wrap="square">
            <a:spAutoFit/>
          </a:bodyPr>
          <a:lstStyle/>
          <a:p>
            <a:pPr>
              <a:defRPr sz="1050">
                <a:solidFill>
                  <a:srgbClr val="EBEEF5"/>
                </a:solidFill>
                <a:latin typeface="Consolas"/>
              </a:defRPr>
            </a:pPr>
            <a:r>
              <a:t>-- Aggregate claims by type</a:t>
            </a:r>
            <a:br/>
            <a:r>
              <a:t>SELECT Claim_Type,</a:t>
            </a:r>
            <a:br/>
            <a:r>
              <a:t>       COUNT(Claim_ID) AS Total_Claims,</a:t>
            </a:r>
            <a:br/>
            <a:r>
              <a:t>       AVG(Claim_Amount) AS Avg_Claim_Amount</a:t>
            </a:r>
            <a:br/>
            <a:r>
              <a:t>FROM insurance_claims_dataset</a:t>
            </a:r>
            <a:br/>
            <a:r>
              <a:t>GROUP BY Claim_Type;</a:t>
            </a:r>
          </a:p>
        </p:txBody>
      </p:sp>
      <p:sp>
        <p:nvSpPr>
          <p:cNvPr id="7" name="Rounded Rectangle 6"/>
          <p:cNvSpPr/>
          <p:nvPr/>
        </p:nvSpPr>
        <p:spPr>
          <a:xfrm>
            <a:off x="6217920" y="1325880"/>
            <a:ext cx="5303520" cy="1828800"/>
          </a:xfrm>
          <a:prstGeom prst="roundRect">
            <a:avLst/>
          </a:prstGeom>
          <a:solidFill>
            <a:srgbClr val="1C1F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472184"/>
            <a:ext cx="4937759" cy="1554480"/>
          </a:xfrm>
          <a:prstGeom prst="rect">
            <a:avLst/>
          </a:prstGeom>
          <a:noFill/>
        </p:spPr>
        <p:txBody>
          <a:bodyPr wrap="square">
            <a:spAutoFit/>
          </a:bodyPr>
          <a:lstStyle/>
          <a:p>
            <a:pPr>
              <a:defRPr sz="1050">
                <a:solidFill>
                  <a:srgbClr val="EBEEF5"/>
                </a:solidFill>
                <a:latin typeface="Consolas"/>
              </a:defRPr>
            </a:pPr>
            <a:r>
              <a:t>-- Rank claims within each region</a:t>
            </a:r>
            <a:br/>
            <a:r>
              <a:t>SELECT Claim_ID, Region, Claim_Amount,</a:t>
            </a:r>
            <a:br/>
            <a:r>
              <a:t>       RANK() OVER (</a:t>
            </a:r>
            <a:br/>
            <a:r>
              <a:t>         PARTITION BY Region</a:t>
            </a:r>
            <a:br/>
            <a:r>
              <a:t>         ORDER BY Claim_Amount DESC</a:t>
            </a:r>
            <a:br/>
            <a:r>
              <a:t>       ) AS Rank_In_Region</a:t>
            </a:r>
            <a:br/>
            <a:r>
              <a:t>FROM insurance_claims_dataset;</a:t>
            </a:r>
          </a:p>
        </p:txBody>
      </p:sp>
      <p:sp>
        <p:nvSpPr>
          <p:cNvPr id="9" name="Rounded Rectangle 8"/>
          <p:cNvSpPr/>
          <p:nvPr/>
        </p:nvSpPr>
        <p:spPr>
          <a:xfrm>
            <a:off x="685800" y="3520440"/>
            <a:ext cx="5394960" cy="1508760"/>
          </a:xfrm>
          <a:prstGeom prst="roundRect">
            <a:avLst/>
          </a:prstGeom>
          <a:solidFill>
            <a:srgbClr val="1C1F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3666744"/>
            <a:ext cx="5029200" cy="1234439"/>
          </a:xfrm>
          <a:prstGeom prst="rect">
            <a:avLst/>
          </a:prstGeom>
          <a:noFill/>
        </p:spPr>
        <p:txBody>
          <a:bodyPr wrap="square">
            <a:spAutoFit/>
          </a:bodyPr>
          <a:lstStyle/>
          <a:p>
            <a:pPr>
              <a:defRPr sz="1050">
                <a:solidFill>
                  <a:srgbClr val="EBEEF5"/>
                </a:solidFill>
                <a:latin typeface="Consolas"/>
              </a:defRPr>
            </a:pPr>
            <a:r>
              <a:t>-- Reusable fraud view</a:t>
            </a:r>
            <a:br/>
            <a:r>
              <a:t>CREATE VIEW Fraud_Cases AS</a:t>
            </a:r>
            <a:br/>
            <a:r>
              <a:t>SELECT *</a:t>
            </a:r>
            <a:br/>
            <a:r>
              <a:t>FROM insurance_claims_dataset</a:t>
            </a:r>
            <a:br/>
            <a:r>
              <a:t>WHERE Fraud_Flag = 'Yes';</a:t>
            </a:r>
          </a:p>
        </p:txBody>
      </p:sp>
      <p:sp>
        <p:nvSpPr>
          <p:cNvPr id="11" name="Rounded Rectangle 10"/>
          <p:cNvSpPr/>
          <p:nvPr/>
        </p:nvSpPr>
        <p:spPr>
          <a:xfrm>
            <a:off x="6217920" y="3520440"/>
            <a:ext cx="5303520" cy="1508760"/>
          </a:xfrm>
          <a:prstGeom prst="roundRect">
            <a:avLst/>
          </a:prstGeom>
          <a:solidFill>
            <a:srgbClr val="1C1F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3666744"/>
            <a:ext cx="4937759" cy="1234439"/>
          </a:xfrm>
          <a:prstGeom prst="rect">
            <a:avLst/>
          </a:prstGeom>
          <a:noFill/>
        </p:spPr>
        <p:txBody>
          <a:bodyPr wrap="square">
            <a:spAutoFit/>
          </a:bodyPr>
          <a:lstStyle/>
          <a:p>
            <a:pPr>
              <a:defRPr sz="1050">
                <a:solidFill>
                  <a:srgbClr val="EBEEF5"/>
                </a:solidFill>
                <a:latin typeface="Consolas"/>
              </a:defRPr>
            </a:pPr>
            <a:r>
              <a:t>-- Stored procedure example</a:t>
            </a:r>
            <a:br/>
            <a:r>
              <a:t>CALL GetClaimsByRegion('South');</a:t>
            </a:r>
          </a:p>
        </p:txBody>
      </p:sp>
      <p:sp>
        <p:nvSpPr>
          <p:cNvPr id="13" name="Rounded Rectangle 12"/>
          <p:cNvSpPr/>
          <p:nvPr/>
        </p:nvSpPr>
        <p:spPr>
          <a:xfrm>
            <a:off x="685800" y="5303520"/>
            <a:ext cx="10835640" cy="658368"/>
          </a:xfrm>
          <a:prstGeom prst="roundRect">
            <a:avLst/>
          </a:prstGeom>
          <a:solidFill>
            <a:srgbClr val="FFFFFF"/>
          </a:solidFill>
          <a:ln w="15240">
            <a:solidFill>
              <a:srgbClr val="E0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85800" y="5303520"/>
            <a:ext cx="64008" cy="658368"/>
          </a:xfrm>
          <a:prstGeom prst="rect">
            <a:avLst/>
          </a:prstGeom>
          <a:solidFill>
            <a:srgbClr val="16A0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6968" y="5449824"/>
            <a:ext cx="10515600" cy="365760"/>
          </a:xfrm>
          <a:prstGeom prst="rect">
            <a:avLst/>
          </a:prstGeom>
          <a:noFill/>
        </p:spPr>
        <p:txBody>
          <a:bodyPr wrap="none">
            <a:spAutoFit/>
          </a:bodyPr>
          <a:lstStyle/>
          <a:p>
            <a:r>
              <a:rPr sz="1200" b="1">
                <a:solidFill>
                  <a:srgbClr val="183A8A"/>
                </a:solidFill>
                <a:latin typeface="Aptos"/>
              </a:rPr>
              <a:t>Why this matters</a:t>
            </a:r>
          </a:p>
        </p:txBody>
      </p:sp>
      <p:sp>
        <p:nvSpPr>
          <p:cNvPr id="16" name="TextBox 15"/>
          <p:cNvSpPr txBox="1"/>
          <p:nvPr/>
        </p:nvSpPr>
        <p:spPr>
          <a:xfrm>
            <a:off x="886968" y="5870448"/>
            <a:ext cx="10515600" cy="-27432"/>
          </a:xfrm>
          <a:prstGeom prst="rect">
            <a:avLst/>
          </a:prstGeom>
          <a:noFill/>
        </p:spPr>
        <p:txBody>
          <a:bodyPr wrap="square">
            <a:spAutoFit/>
          </a:bodyPr>
          <a:lstStyle/>
          <a:p>
            <a:pPr>
              <a:defRPr sz="1000">
                <a:solidFill>
                  <a:srgbClr val="23262D"/>
                </a:solidFill>
                <a:latin typeface="Aptos"/>
              </a:defRPr>
            </a:pPr>
            <a:r>
              <a:t>These techniques move the project beyond simple charts: the analysis is reproducible, reusable and scalable for additional business questions.</a:t>
            </a:r>
          </a:p>
        </p:txBody>
      </p:sp>
      <p:sp>
        <p:nvSpPr>
          <p:cNvPr id="17" name="Rectangle 16"/>
          <p:cNvSpPr/>
          <p:nvPr/>
        </p:nvSpPr>
        <p:spPr>
          <a:xfrm>
            <a:off x="594360" y="6510528"/>
            <a:ext cx="10972800" cy="9144"/>
          </a:xfrm>
          <a:prstGeom prst="rect">
            <a:avLst/>
          </a:prstGeom>
          <a:solidFill>
            <a:srgbClr val="E0E4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1792" y="6547104"/>
            <a:ext cx="9144000" cy="182880"/>
          </a:xfrm>
          <a:prstGeom prst="rect">
            <a:avLst/>
          </a:prstGeom>
          <a:noFill/>
        </p:spPr>
        <p:txBody>
          <a:bodyPr wrap="none">
            <a:spAutoFit/>
          </a:bodyPr>
          <a:lstStyle/>
          <a:p>
            <a:r>
              <a:rPr sz="800">
                <a:solidFill>
                  <a:srgbClr val="5C626E"/>
                </a:solidFill>
              </a:rPr>
              <a:t>Insurance Claims &amp; Fraud Analysis | Capstone Project</a:t>
            </a:r>
          </a:p>
        </p:txBody>
      </p:sp>
      <p:sp>
        <p:nvSpPr>
          <p:cNvPr id="19" name="TextBox 18"/>
          <p:cNvSpPr txBox="1"/>
          <p:nvPr/>
        </p:nvSpPr>
        <p:spPr>
          <a:xfrm>
            <a:off x="11155680" y="6519672"/>
            <a:ext cx="365760" cy="182880"/>
          </a:xfrm>
          <a:prstGeom prst="rect">
            <a:avLst/>
          </a:prstGeom>
          <a:noFill/>
        </p:spPr>
        <p:txBody>
          <a:bodyPr wrap="none">
            <a:spAutoFit/>
          </a:bodyPr>
          <a:lstStyle/>
          <a:p>
            <a:pPr algn="r"/>
            <a:r>
              <a:rPr sz="800">
                <a:solidFill>
                  <a:srgbClr val="5C626E"/>
                </a:solidFill>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594360"/>
          </a:xfrm>
          <a:prstGeom prst="rect">
            <a:avLst/>
          </a:prstGeom>
          <a:noFill/>
        </p:spPr>
        <p:txBody>
          <a:bodyPr wrap="none">
            <a:spAutoFit/>
          </a:bodyPr>
          <a:lstStyle/>
          <a:p>
            <a:r>
              <a:rPr sz="2500" b="1">
                <a:solidFill>
                  <a:srgbClr val="183A8A"/>
                </a:solidFill>
                <a:latin typeface="Aptos Display"/>
              </a:rPr>
              <a:t>7. Fraud &amp; Risk Analysis Approach</a:t>
            </a:r>
          </a:p>
        </p:txBody>
      </p:sp>
      <p:sp>
        <p:nvSpPr>
          <p:cNvPr id="4" name="TextBox 3"/>
          <p:cNvSpPr txBox="1"/>
          <p:nvPr/>
        </p:nvSpPr>
        <p:spPr>
          <a:xfrm>
            <a:off x="612648" y="896112"/>
            <a:ext cx="10789920" cy="320040"/>
          </a:xfrm>
          <a:prstGeom prst="rect">
            <a:avLst/>
          </a:prstGeom>
          <a:noFill/>
        </p:spPr>
        <p:txBody>
          <a:bodyPr wrap="none">
            <a:spAutoFit/>
          </a:bodyPr>
          <a:lstStyle/>
          <a:p>
            <a:r>
              <a:rPr sz="1050">
                <a:solidFill>
                  <a:srgbClr val="5C626E"/>
                </a:solidFill>
                <a:latin typeface="Aptos"/>
              </a:rPr>
              <a:t>How the project turns claim data into risk-focused views</a:t>
            </a:r>
          </a:p>
        </p:txBody>
      </p:sp>
      <p:sp>
        <p:nvSpPr>
          <p:cNvPr id="5" name="Rounded Rectangle 4"/>
          <p:cNvSpPr/>
          <p:nvPr/>
        </p:nvSpPr>
        <p:spPr>
          <a:xfrm>
            <a:off x="640080" y="1280160"/>
            <a:ext cx="3429000" cy="1554480"/>
          </a:xfrm>
          <a:prstGeom prst="roundRect">
            <a:avLst/>
          </a:prstGeom>
          <a:solidFill>
            <a:srgbClr val="FFFFFF"/>
          </a:solidFill>
          <a:ln w="15240">
            <a:solidFill>
              <a:srgbClr val="E0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280160"/>
            <a:ext cx="64008" cy="155448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1247" y="1426463"/>
            <a:ext cx="3108960" cy="365760"/>
          </a:xfrm>
          <a:prstGeom prst="rect">
            <a:avLst/>
          </a:prstGeom>
          <a:noFill/>
        </p:spPr>
        <p:txBody>
          <a:bodyPr wrap="none">
            <a:spAutoFit/>
          </a:bodyPr>
          <a:lstStyle/>
          <a:p>
            <a:r>
              <a:rPr sz="1500" b="1">
                <a:solidFill>
                  <a:srgbClr val="183A8A"/>
                </a:solidFill>
                <a:latin typeface="Aptos"/>
              </a:rPr>
              <a:t>Fraud Flag</a:t>
            </a:r>
          </a:p>
        </p:txBody>
      </p:sp>
      <p:sp>
        <p:nvSpPr>
          <p:cNvPr id="8" name="TextBox 7"/>
          <p:cNvSpPr txBox="1"/>
          <p:nvPr/>
        </p:nvSpPr>
        <p:spPr>
          <a:xfrm>
            <a:off x="841247" y="1847088"/>
            <a:ext cx="3108960" cy="868680"/>
          </a:xfrm>
          <a:prstGeom prst="rect">
            <a:avLst/>
          </a:prstGeom>
          <a:noFill/>
        </p:spPr>
        <p:txBody>
          <a:bodyPr wrap="square">
            <a:spAutoFit/>
          </a:bodyPr>
          <a:lstStyle/>
          <a:p>
            <a:pPr>
              <a:defRPr sz="1200">
                <a:solidFill>
                  <a:srgbClr val="23262D"/>
                </a:solidFill>
                <a:latin typeface="Aptos"/>
              </a:defRPr>
            </a:pPr>
            <a:r>
              <a:t>Separate claims into records flagged Yes vs No using the Fraud_Flag field.</a:t>
            </a:r>
          </a:p>
        </p:txBody>
      </p:sp>
      <p:sp>
        <p:nvSpPr>
          <p:cNvPr id="9" name="Rounded Rectangle 8"/>
          <p:cNvSpPr/>
          <p:nvPr/>
        </p:nvSpPr>
        <p:spPr>
          <a:xfrm>
            <a:off x="4389120" y="1280160"/>
            <a:ext cx="3429000" cy="1554480"/>
          </a:xfrm>
          <a:prstGeom prst="roundRect">
            <a:avLst/>
          </a:prstGeom>
          <a:solidFill>
            <a:srgbClr val="FFFFFF"/>
          </a:solidFill>
          <a:ln w="15240">
            <a:solidFill>
              <a:srgbClr val="E0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89120" y="1280160"/>
            <a:ext cx="64008" cy="1554480"/>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90288" y="1426463"/>
            <a:ext cx="3108960" cy="365760"/>
          </a:xfrm>
          <a:prstGeom prst="rect">
            <a:avLst/>
          </a:prstGeom>
          <a:noFill/>
        </p:spPr>
        <p:txBody>
          <a:bodyPr wrap="none">
            <a:spAutoFit/>
          </a:bodyPr>
          <a:lstStyle/>
          <a:p>
            <a:r>
              <a:rPr sz="1500" b="1">
                <a:solidFill>
                  <a:srgbClr val="183A8A"/>
                </a:solidFill>
                <a:latin typeface="Aptos"/>
              </a:rPr>
              <a:t>Fraud Risk Score</a:t>
            </a:r>
          </a:p>
        </p:txBody>
      </p:sp>
      <p:sp>
        <p:nvSpPr>
          <p:cNvPr id="12" name="TextBox 11"/>
          <p:cNvSpPr txBox="1"/>
          <p:nvPr/>
        </p:nvSpPr>
        <p:spPr>
          <a:xfrm>
            <a:off x="4590288" y="1847088"/>
            <a:ext cx="3108960" cy="868680"/>
          </a:xfrm>
          <a:prstGeom prst="rect">
            <a:avLst/>
          </a:prstGeom>
          <a:noFill/>
        </p:spPr>
        <p:txBody>
          <a:bodyPr wrap="square">
            <a:spAutoFit/>
          </a:bodyPr>
          <a:lstStyle/>
          <a:p>
            <a:pPr>
              <a:defRPr sz="1200">
                <a:solidFill>
                  <a:srgbClr val="23262D"/>
                </a:solidFill>
                <a:latin typeface="Aptos"/>
              </a:defRPr>
            </a:pPr>
            <a:r>
              <a:t>Compare average risk scores by Claim Type, Region and Gender; inspect score distribution.</a:t>
            </a:r>
          </a:p>
        </p:txBody>
      </p:sp>
      <p:sp>
        <p:nvSpPr>
          <p:cNvPr id="13" name="Rounded Rectangle 12"/>
          <p:cNvSpPr/>
          <p:nvPr/>
        </p:nvSpPr>
        <p:spPr>
          <a:xfrm>
            <a:off x="8138160" y="1280160"/>
            <a:ext cx="3429000" cy="1554480"/>
          </a:xfrm>
          <a:prstGeom prst="roundRect">
            <a:avLst/>
          </a:prstGeom>
          <a:solidFill>
            <a:srgbClr val="FFFFFF"/>
          </a:solidFill>
          <a:ln w="15240">
            <a:solidFill>
              <a:srgbClr val="E0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138160" y="1280160"/>
            <a:ext cx="64008" cy="1554480"/>
          </a:xfrm>
          <a:prstGeom prst="rect">
            <a:avLst/>
          </a:prstGeom>
          <a:solidFill>
            <a:srgbClr val="16A0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39328" y="1426463"/>
            <a:ext cx="3108960" cy="365760"/>
          </a:xfrm>
          <a:prstGeom prst="rect">
            <a:avLst/>
          </a:prstGeom>
          <a:noFill/>
        </p:spPr>
        <p:txBody>
          <a:bodyPr wrap="none">
            <a:spAutoFit/>
          </a:bodyPr>
          <a:lstStyle/>
          <a:p>
            <a:r>
              <a:rPr sz="1500" b="1">
                <a:solidFill>
                  <a:srgbClr val="183A8A"/>
                </a:solidFill>
                <a:latin typeface="Aptos"/>
              </a:rPr>
              <a:t>Financial Exposure</a:t>
            </a:r>
          </a:p>
        </p:txBody>
      </p:sp>
      <p:sp>
        <p:nvSpPr>
          <p:cNvPr id="16" name="TextBox 15"/>
          <p:cNvSpPr txBox="1"/>
          <p:nvPr/>
        </p:nvSpPr>
        <p:spPr>
          <a:xfrm>
            <a:off x="8339328" y="1847088"/>
            <a:ext cx="3108960" cy="868680"/>
          </a:xfrm>
          <a:prstGeom prst="rect">
            <a:avLst/>
          </a:prstGeom>
          <a:noFill/>
        </p:spPr>
        <p:txBody>
          <a:bodyPr wrap="square">
            <a:spAutoFit/>
          </a:bodyPr>
          <a:lstStyle/>
          <a:p>
            <a:pPr>
              <a:defRPr sz="1200">
                <a:solidFill>
                  <a:srgbClr val="23262D"/>
                </a:solidFill>
                <a:latin typeface="Aptos"/>
              </a:defRPr>
            </a:pPr>
            <a:r>
              <a:t>Compare claim and premium amounts by status, region, gender and claim type.</a:t>
            </a:r>
          </a:p>
        </p:txBody>
      </p:sp>
      <p:sp>
        <p:nvSpPr>
          <p:cNvPr id="17" name="Rounded Rectangle 16"/>
          <p:cNvSpPr/>
          <p:nvPr/>
        </p:nvSpPr>
        <p:spPr>
          <a:xfrm>
            <a:off x="640080" y="3246120"/>
            <a:ext cx="3429000" cy="1645920"/>
          </a:xfrm>
          <a:prstGeom prst="roundRect">
            <a:avLst/>
          </a:prstGeom>
          <a:solidFill>
            <a:srgbClr val="FFFFFF"/>
          </a:solidFill>
          <a:ln w="15240">
            <a:solidFill>
              <a:srgbClr val="E0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40080" y="3246120"/>
            <a:ext cx="64008" cy="1645920"/>
          </a:xfrm>
          <a:prstGeom prst="rect">
            <a:avLst/>
          </a:prstGeom>
          <a:solidFill>
            <a:srgbClr val="5B5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41247" y="3392424"/>
            <a:ext cx="3108960" cy="365760"/>
          </a:xfrm>
          <a:prstGeom prst="rect">
            <a:avLst/>
          </a:prstGeom>
          <a:noFill/>
        </p:spPr>
        <p:txBody>
          <a:bodyPr wrap="none">
            <a:spAutoFit/>
          </a:bodyPr>
          <a:lstStyle/>
          <a:p>
            <a:r>
              <a:rPr sz="1500" b="1">
                <a:solidFill>
                  <a:srgbClr val="183A8A"/>
                </a:solidFill>
                <a:latin typeface="Aptos"/>
              </a:rPr>
              <a:t>Example question</a:t>
            </a:r>
          </a:p>
        </p:txBody>
      </p:sp>
      <p:sp>
        <p:nvSpPr>
          <p:cNvPr id="20" name="TextBox 19"/>
          <p:cNvSpPr txBox="1"/>
          <p:nvPr/>
        </p:nvSpPr>
        <p:spPr>
          <a:xfrm>
            <a:off x="841247" y="3813048"/>
            <a:ext cx="3108960" cy="960120"/>
          </a:xfrm>
          <a:prstGeom prst="rect">
            <a:avLst/>
          </a:prstGeom>
          <a:noFill/>
        </p:spPr>
        <p:txBody>
          <a:bodyPr wrap="square">
            <a:spAutoFit/>
          </a:bodyPr>
          <a:lstStyle/>
          <a:p>
            <a:pPr>
              <a:defRPr sz="1200">
                <a:solidFill>
                  <a:srgbClr val="23262D"/>
                </a:solidFill>
                <a:latin typeface="Aptos"/>
              </a:defRPr>
            </a:pPr>
            <a:r>
              <a:t>Which claim types have higher average risk scores or higher claim amounts?</a:t>
            </a:r>
          </a:p>
        </p:txBody>
      </p:sp>
      <p:sp>
        <p:nvSpPr>
          <p:cNvPr id="21" name="Rounded Rectangle 20"/>
          <p:cNvSpPr/>
          <p:nvPr/>
        </p:nvSpPr>
        <p:spPr>
          <a:xfrm>
            <a:off x="4389120" y="3246120"/>
            <a:ext cx="3429000" cy="1645920"/>
          </a:xfrm>
          <a:prstGeom prst="roundRect">
            <a:avLst/>
          </a:prstGeom>
          <a:solidFill>
            <a:srgbClr val="FFFFFF"/>
          </a:solidFill>
          <a:ln w="15240">
            <a:solidFill>
              <a:srgbClr val="E0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389120" y="3246120"/>
            <a:ext cx="64008" cy="1645920"/>
          </a:xfrm>
          <a:prstGeom prst="rect">
            <a:avLst/>
          </a:prstGeom>
          <a:solidFill>
            <a:srgbClr val="3498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90288" y="3392424"/>
            <a:ext cx="3108960" cy="365760"/>
          </a:xfrm>
          <a:prstGeom prst="rect">
            <a:avLst/>
          </a:prstGeom>
          <a:noFill/>
        </p:spPr>
        <p:txBody>
          <a:bodyPr wrap="none">
            <a:spAutoFit/>
          </a:bodyPr>
          <a:lstStyle/>
          <a:p>
            <a:r>
              <a:rPr sz="1500" b="1">
                <a:solidFill>
                  <a:srgbClr val="183A8A"/>
                </a:solidFill>
                <a:latin typeface="Aptos"/>
              </a:rPr>
              <a:t>Example interpretation</a:t>
            </a:r>
          </a:p>
        </p:txBody>
      </p:sp>
      <p:sp>
        <p:nvSpPr>
          <p:cNvPr id="24" name="TextBox 23"/>
          <p:cNvSpPr txBox="1"/>
          <p:nvPr/>
        </p:nvSpPr>
        <p:spPr>
          <a:xfrm>
            <a:off x="4590288" y="3813048"/>
            <a:ext cx="3108960" cy="960120"/>
          </a:xfrm>
          <a:prstGeom prst="rect">
            <a:avLst/>
          </a:prstGeom>
          <a:noFill/>
        </p:spPr>
        <p:txBody>
          <a:bodyPr wrap="square">
            <a:spAutoFit/>
          </a:bodyPr>
          <a:lstStyle/>
          <a:p>
            <a:pPr>
              <a:defRPr sz="1200">
                <a:solidFill>
                  <a:srgbClr val="23262D"/>
                </a:solidFill>
                <a:latin typeface="Aptos"/>
              </a:defRPr>
            </a:pPr>
            <a:r>
              <a:t>A high-risk segment can be prioritized for review, but the dashboard alone should not be treated as proof of fraud.</a:t>
            </a:r>
          </a:p>
        </p:txBody>
      </p:sp>
      <p:sp>
        <p:nvSpPr>
          <p:cNvPr id="25" name="Rounded Rectangle 24"/>
          <p:cNvSpPr/>
          <p:nvPr/>
        </p:nvSpPr>
        <p:spPr>
          <a:xfrm>
            <a:off x="8138160" y="3246120"/>
            <a:ext cx="3429000" cy="1645920"/>
          </a:xfrm>
          <a:prstGeom prst="roundRect">
            <a:avLst/>
          </a:prstGeom>
          <a:solidFill>
            <a:srgbClr val="FFFFFF"/>
          </a:solidFill>
          <a:ln w="15240">
            <a:solidFill>
              <a:srgbClr val="E0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138160" y="3246120"/>
            <a:ext cx="64008" cy="16459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39328" y="3392424"/>
            <a:ext cx="3108960" cy="365760"/>
          </a:xfrm>
          <a:prstGeom prst="rect">
            <a:avLst/>
          </a:prstGeom>
          <a:noFill/>
        </p:spPr>
        <p:txBody>
          <a:bodyPr wrap="none">
            <a:spAutoFit/>
          </a:bodyPr>
          <a:lstStyle/>
          <a:p>
            <a:r>
              <a:rPr sz="1500" b="1">
                <a:solidFill>
                  <a:srgbClr val="183A8A"/>
                </a:solidFill>
                <a:latin typeface="Aptos"/>
              </a:rPr>
              <a:t>Control point</a:t>
            </a:r>
          </a:p>
        </p:txBody>
      </p:sp>
      <p:sp>
        <p:nvSpPr>
          <p:cNvPr id="28" name="TextBox 27"/>
          <p:cNvSpPr txBox="1"/>
          <p:nvPr/>
        </p:nvSpPr>
        <p:spPr>
          <a:xfrm>
            <a:off x="8339328" y="3813048"/>
            <a:ext cx="3108960" cy="960120"/>
          </a:xfrm>
          <a:prstGeom prst="rect">
            <a:avLst/>
          </a:prstGeom>
          <a:noFill/>
        </p:spPr>
        <p:txBody>
          <a:bodyPr wrap="square">
            <a:spAutoFit/>
          </a:bodyPr>
          <a:lstStyle/>
          <a:p>
            <a:pPr>
              <a:defRPr sz="1200">
                <a:solidFill>
                  <a:srgbClr val="23262D"/>
                </a:solidFill>
                <a:latin typeface="Aptos"/>
              </a:defRPr>
            </a:pPr>
            <a:r>
              <a:t>Use multiple dimensions together: status + region + type + risk + financial value.</a:t>
            </a:r>
          </a:p>
        </p:txBody>
      </p:sp>
      <p:sp>
        <p:nvSpPr>
          <p:cNvPr id="29" name="Rounded Rectangle 28"/>
          <p:cNvSpPr/>
          <p:nvPr/>
        </p:nvSpPr>
        <p:spPr>
          <a:xfrm>
            <a:off x="640080" y="5303520"/>
            <a:ext cx="10927080" cy="658368"/>
          </a:xfrm>
          <a:prstGeom prst="roundRect">
            <a:avLst/>
          </a:prstGeom>
          <a:solidFill>
            <a:srgbClr val="FFFFFF"/>
          </a:solidFill>
          <a:ln w="15240">
            <a:solidFill>
              <a:srgbClr val="E0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40080" y="5303520"/>
            <a:ext cx="64008" cy="658368"/>
          </a:xfrm>
          <a:prstGeom prst="rect">
            <a:avLst/>
          </a:prstGeom>
          <a:solidFill>
            <a:srgbClr val="18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41247" y="5449824"/>
            <a:ext cx="10607040" cy="365760"/>
          </a:xfrm>
          <a:prstGeom prst="rect">
            <a:avLst/>
          </a:prstGeom>
          <a:noFill/>
        </p:spPr>
        <p:txBody>
          <a:bodyPr wrap="none">
            <a:spAutoFit/>
          </a:bodyPr>
          <a:lstStyle/>
          <a:p>
            <a:r>
              <a:rPr sz="1200" b="1">
                <a:solidFill>
                  <a:srgbClr val="183A8A"/>
                </a:solidFill>
                <a:latin typeface="Aptos"/>
              </a:rPr>
              <a:t>Important</a:t>
            </a:r>
          </a:p>
        </p:txBody>
      </p:sp>
      <p:sp>
        <p:nvSpPr>
          <p:cNvPr id="32" name="TextBox 31"/>
          <p:cNvSpPr txBox="1"/>
          <p:nvPr/>
        </p:nvSpPr>
        <p:spPr>
          <a:xfrm>
            <a:off x="841247" y="5870448"/>
            <a:ext cx="10607040" cy="-27432"/>
          </a:xfrm>
          <a:prstGeom prst="rect">
            <a:avLst/>
          </a:prstGeom>
          <a:noFill/>
        </p:spPr>
        <p:txBody>
          <a:bodyPr wrap="square">
            <a:spAutoFit/>
          </a:bodyPr>
          <a:lstStyle/>
          <a:p>
            <a:pPr>
              <a:defRPr sz="1000">
                <a:solidFill>
                  <a:srgbClr val="23262D"/>
                </a:solidFill>
                <a:latin typeface="Aptos"/>
              </a:defRPr>
            </a:pPr>
            <a:r>
              <a:t>Risk analytics is decision support. Final fraud decisions require investigation, policy rules and appropriate evidence.</a:t>
            </a:r>
          </a:p>
        </p:txBody>
      </p:sp>
      <p:sp>
        <p:nvSpPr>
          <p:cNvPr id="33" name="Rectangle 32"/>
          <p:cNvSpPr/>
          <p:nvPr/>
        </p:nvSpPr>
        <p:spPr>
          <a:xfrm>
            <a:off x="594360" y="6510528"/>
            <a:ext cx="10972800" cy="9144"/>
          </a:xfrm>
          <a:prstGeom prst="rect">
            <a:avLst/>
          </a:prstGeom>
          <a:solidFill>
            <a:srgbClr val="E0E4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21792" y="6547104"/>
            <a:ext cx="9144000" cy="182880"/>
          </a:xfrm>
          <a:prstGeom prst="rect">
            <a:avLst/>
          </a:prstGeom>
          <a:noFill/>
        </p:spPr>
        <p:txBody>
          <a:bodyPr wrap="none">
            <a:spAutoFit/>
          </a:bodyPr>
          <a:lstStyle/>
          <a:p>
            <a:r>
              <a:rPr sz="800">
                <a:solidFill>
                  <a:srgbClr val="5C626E"/>
                </a:solidFill>
              </a:rPr>
              <a:t>Insurance Claims &amp; Fraud Analysis | Capstone Project</a:t>
            </a:r>
          </a:p>
        </p:txBody>
      </p:sp>
      <p:sp>
        <p:nvSpPr>
          <p:cNvPr id="35" name="TextBox 34"/>
          <p:cNvSpPr txBox="1"/>
          <p:nvPr/>
        </p:nvSpPr>
        <p:spPr>
          <a:xfrm>
            <a:off x="11155680" y="6519672"/>
            <a:ext cx="365760" cy="182880"/>
          </a:xfrm>
          <a:prstGeom prst="rect">
            <a:avLst/>
          </a:prstGeom>
          <a:noFill/>
        </p:spPr>
        <p:txBody>
          <a:bodyPr wrap="none">
            <a:spAutoFit/>
          </a:bodyPr>
          <a:lstStyle/>
          <a:p>
            <a:pPr algn="r"/>
            <a:r>
              <a:rPr sz="800">
                <a:solidFill>
                  <a:srgbClr val="5C626E"/>
                </a:solidFill>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594360"/>
          </a:xfrm>
          <a:prstGeom prst="rect">
            <a:avLst/>
          </a:prstGeom>
          <a:noFill/>
        </p:spPr>
        <p:txBody>
          <a:bodyPr wrap="none">
            <a:spAutoFit/>
          </a:bodyPr>
          <a:lstStyle/>
          <a:p>
            <a:r>
              <a:rPr sz="2500" b="1">
                <a:solidFill>
                  <a:srgbClr val="183A8A"/>
                </a:solidFill>
                <a:latin typeface="Aptos Display"/>
              </a:rPr>
              <a:t>8. Executive Dashboard</a:t>
            </a:r>
          </a:p>
        </p:txBody>
      </p:sp>
      <p:sp>
        <p:nvSpPr>
          <p:cNvPr id="4" name="TextBox 3"/>
          <p:cNvSpPr txBox="1"/>
          <p:nvPr/>
        </p:nvSpPr>
        <p:spPr>
          <a:xfrm>
            <a:off x="612648" y="896112"/>
            <a:ext cx="10789920" cy="320040"/>
          </a:xfrm>
          <a:prstGeom prst="rect">
            <a:avLst/>
          </a:prstGeom>
          <a:noFill/>
        </p:spPr>
        <p:txBody>
          <a:bodyPr wrap="none">
            <a:spAutoFit/>
          </a:bodyPr>
          <a:lstStyle/>
          <a:p>
            <a:r>
              <a:rPr sz="1050">
                <a:solidFill>
                  <a:srgbClr val="5C626E"/>
                </a:solidFill>
                <a:latin typeface="Aptos"/>
              </a:rPr>
              <a:t>Management view of volume, fraud flags, status, type, region and financial value</a:t>
            </a:r>
          </a:p>
        </p:txBody>
      </p:sp>
      <p:pic>
        <p:nvPicPr>
          <p:cNvPr id="5" name="Picture 4" descr="image(20261008-180019).png"/>
          <p:cNvPicPr>
            <a:picLocks noChangeAspect="1"/>
          </p:cNvPicPr>
          <p:nvPr/>
        </p:nvPicPr>
        <p:blipFill>
          <a:blip r:embed="rId2"/>
          <a:stretch>
            <a:fillRect/>
          </a:stretch>
        </p:blipFill>
        <p:spPr>
          <a:xfrm>
            <a:off x="594360" y="1630379"/>
            <a:ext cx="7406640" cy="4191600"/>
          </a:xfrm>
          <a:prstGeom prst="rect">
            <a:avLst/>
          </a:prstGeom>
        </p:spPr>
      </p:pic>
      <p:sp>
        <p:nvSpPr>
          <p:cNvPr id="6" name="Rounded Rectangle 5"/>
          <p:cNvSpPr/>
          <p:nvPr/>
        </p:nvSpPr>
        <p:spPr>
          <a:xfrm>
            <a:off x="8183879" y="1234440"/>
            <a:ext cx="3337560" cy="960120"/>
          </a:xfrm>
          <a:prstGeom prst="roundRect">
            <a:avLst/>
          </a:prstGeom>
          <a:solidFill>
            <a:srgbClr val="FFFFFF"/>
          </a:solidFill>
          <a:ln w="15240">
            <a:solidFill>
              <a:srgbClr val="E0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183879" y="1234440"/>
            <a:ext cx="64008" cy="960120"/>
          </a:xfrm>
          <a:prstGeom prst="rect">
            <a:avLst/>
          </a:prstGeom>
          <a:solidFill>
            <a:srgbClr val="18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85048" y="1380744"/>
            <a:ext cx="3017520" cy="365760"/>
          </a:xfrm>
          <a:prstGeom prst="rect">
            <a:avLst/>
          </a:prstGeom>
          <a:noFill/>
        </p:spPr>
        <p:txBody>
          <a:bodyPr wrap="none">
            <a:spAutoFit/>
          </a:bodyPr>
          <a:lstStyle/>
          <a:p>
            <a:r>
              <a:rPr sz="1400" b="1">
                <a:solidFill>
                  <a:srgbClr val="183A8A"/>
                </a:solidFill>
                <a:latin typeface="Aptos"/>
              </a:rPr>
              <a:t>Top KPI outputs</a:t>
            </a:r>
          </a:p>
        </p:txBody>
      </p:sp>
      <p:sp>
        <p:nvSpPr>
          <p:cNvPr id="9" name="TextBox 8"/>
          <p:cNvSpPr txBox="1"/>
          <p:nvPr/>
        </p:nvSpPr>
        <p:spPr>
          <a:xfrm>
            <a:off x="8385048" y="1801368"/>
            <a:ext cx="3017520" cy="274320"/>
          </a:xfrm>
          <a:prstGeom prst="rect">
            <a:avLst/>
          </a:prstGeom>
          <a:noFill/>
        </p:spPr>
        <p:txBody>
          <a:bodyPr wrap="square">
            <a:spAutoFit/>
          </a:bodyPr>
          <a:lstStyle/>
          <a:p>
            <a:pPr>
              <a:defRPr sz="1100">
                <a:solidFill>
                  <a:srgbClr val="23262D"/>
                </a:solidFill>
                <a:latin typeface="Aptos"/>
              </a:defRPr>
            </a:pPr>
            <a:r>
              <a:t>50K total claims</a:t>
            </a:r>
          </a:p>
        </p:txBody>
      </p:sp>
      <p:sp>
        <p:nvSpPr>
          <p:cNvPr id="10" name="Rounded Rectangle 9"/>
          <p:cNvSpPr/>
          <p:nvPr/>
        </p:nvSpPr>
        <p:spPr>
          <a:xfrm>
            <a:off x="8183879" y="2377440"/>
            <a:ext cx="3337560" cy="960120"/>
          </a:xfrm>
          <a:prstGeom prst="roundRect">
            <a:avLst/>
          </a:prstGeom>
          <a:solidFill>
            <a:srgbClr val="FFFFFF"/>
          </a:solidFill>
          <a:ln w="15240">
            <a:solidFill>
              <a:srgbClr val="E0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183879" y="2377440"/>
            <a:ext cx="64008" cy="9601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85048" y="2523744"/>
            <a:ext cx="3017520" cy="365760"/>
          </a:xfrm>
          <a:prstGeom prst="rect">
            <a:avLst/>
          </a:prstGeom>
          <a:noFill/>
        </p:spPr>
        <p:txBody>
          <a:bodyPr wrap="none">
            <a:spAutoFit/>
          </a:bodyPr>
          <a:lstStyle/>
          <a:p>
            <a:r>
              <a:rPr sz="1400" b="1">
                <a:solidFill>
                  <a:srgbClr val="183A8A"/>
                </a:solidFill>
                <a:latin typeface="Aptos"/>
              </a:rPr>
              <a:t>Fraud-flagged claims</a:t>
            </a:r>
          </a:p>
        </p:txBody>
      </p:sp>
      <p:sp>
        <p:nvSpPr>
          <p:cNvPr id="13" name="TextBox 12"/>
          <p:cNvSpPr txBox="1"/>
          <p:nvPr/>
        </p:nvSpPr>
        <p:spPr>
          <a:xfrm>
            <a:off x="8385048" y="2944368"/>
            <a:ext cx="3017520" cy="274320"/>
          </a:xfrm>
          <a:prstGeom prst="rect">
            <a:avLst/>
          </a:prstGeom>
          <a:noFill/>
        </p:spPr>
        <p:txBody>
          <a:bodyPr wrap="square">
            <a:spAutoFit/>
          </a:bodyPr>
          <a:lstStyle/>
          <a:p>
            <a:pPr>
              <a:defRPr sz="1100">
                <a:solidFill>
                  <a:srgbClr val="23262D"/>
                </a:solidFill>
                <a:latin typeface="Aptos"/>
              </a:defRPr>
            </a:pPr>
            <a:r>
              <a:t>12.427K shown in the dashboard</a:t>
            </a:r>
          </a:p>
        </p:txBody>
      </p:sp>
      <p:sp>
        <p:nvSpPr>
          <p:cNvPr id="14" name="Rounded Rectangle 13"/>
          <p:cNvSpPr/>
          <p:nvPr/>
        </p:nvSpPr>
        <p:spPr>
          <a:xfrm>
            <a:off x="8183879" y="3520440"/>
            <a:ext cx="3337560" cy="960120"/>
          </a:xfrm>
          <a:prstGeom prst="roundRect">
            <a:avLst/>
          </a:prstGeom>
          <a:solidFill>
            <a:srgbClr val="FFFFFF"/>
          </a:solidFill>
          <a:ln w="15240">
            <a:solidFill>
              <a:srgbClr val="E0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183879" y="3520440"/>
            <a:ext cx="64008" cy="960120"/>
          </a:xfrm>
          <a:prstGeom prst="rect">
            <a:avLst/>
          </a:prstGeom>
          <a:solidFill>
            <a:srgbClr val="16A0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85048" y="3666744"/>
            <a:ext cx="3017520" cy="365760"/>
          </a:xfrm>
          <a:prstGeom prst="rect">
            <a:avLst/>
          </a:prstGeom>
          <a:noFill/>
        </p:spPr>
        <p:txBody>
          <a:bodyPr wrap="none">
            <a:spAutoFit/>
          </a:bodyPr>
          <a:lstStyle/>
          <a:p>
            <a:r>
              <a:rPr sz="1400" b="1">
                <a:solidFill>
                  <a:srgbClr val="183A8A"/>
                </a:solidFill>
                <a:latin typeface="Aptos"/>
              </a:rPr>
              <a:t>Total claim amount</a:t>
            </a:r>
          </a:p>
        </p:txBody>
      </p:sp>
      <p:sp>
        <p:nvSpPr>
          <p:cNvPr id="17" name="TextBox 16"/>
          <p:cNvSpPr txBox="1"/>
          <p:nvPr/>
        </p:nvSpPr>
        <p:spPr>
          <a:xfrm>
            <a:off x="8385048" y="4087368"/>
            <a:ext cx="3017520" cy="274320"/>
          </a:xfrm>
          <a:prstGeom prst="rect">
            <a:avLst/>
          </a:prstGeom>
          <a:noFill/>
        </p:spPr>
        <p:txBody>
          <a:bodyPr wrap="square">
            <a:spAutoFit/>
          </a:bodyPr>
          <a:lstStyle/>
          <a:p>
            <a:pPr>
              <a:defRPr sz="1100">
                <a:solidFill>
                  <a:srgbClr val="23262D"/>
                </a:solidFill>
                <a:latin typeface="Aptos"/>
              </a:defRPr>
            </a:pPr>
            <a:r>
              <a:t>1.25bn shown in the dashboard</a:t>
            </a:r>
          </a:p>
        </p:txBody>
      </p:sp>
      <p:sp>
        <p:nvSpPr>
          <p:cNvPr id="18" name="Rounded Rectangle 17"/>
          <p:cNvSpPr/>
          <p:nvPr/>
        </p:nvSpPr>
        <p:spPr>
          <a:xfrm>
            <a:off x="8183879" y="4663440"/>
            <a:ext cx="3337560" cy="1325880"/>
          </a:xfrm>
          <a:prstGeom prst="roundRect">
            <a:avLst/>
          </a:prstGeom>
          <a:solidFill>
            <a:srgbClr val="FFFFFF"/>
          </a:solidFill>
          <a:ln w="15240">
            <a:solidFill>
              <a:srgbClr val="E0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183879" y="4663440"/>
            <a:ext cx="64008" cy="1325880"/>
          </a:xfrm>
          <a:prstGeom prst="rect">
            <a:avLst/>
          </a:prstGeom>
          <a:solidFill>
            <a:srgbClr val="5B5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85048" y="4809744"/>
            <a:ext cx="3017520" cy="365760"/>
          </a:xfrm>
          <a:prstGeom prst="rect">
            <a:avLst/>
          </a:prstGeom>
          <a:noFill/>
        </p:spPr>
        <p:txBody>
          <a:bodyPr wrap="none">
            <a:spAutoFit/>
          </a:bodyPr>
          <a:lstStyle/>
          <a:p>
            <a:r>
              <a:rPr sz="1400" b="1">
                <a:solidFill>
                  <a:srgbClr val="183A8A"/>
                </a:solidFill>
                <a:latin typeface="Aptos"/>
              </a:rPr>
              <a:t>Key visuals</a:t>
            </a:r>
          </a:p>
        </p:txBody>
      </p:sp>
      <p:sp>
        <p:nvSpPr>
          <p:cNvPr id="21" name="TextBox 20"/>
          <p:cNvSpPr txBox="1"/>
          <p:nvPr/>
        </p:nvSpPr>
        <p:spPr>
          <a:xfrm>
            <a:off x="8385048" y="5230368"/>
            <a:ext cx="3017520" cy="640080"/>
          </a:xfrm>
          <a:prstGeom prst="rect">
            <a:avLst/>
          </a:prstGeom>
          <a:noFill/>
        </p:spPr>
        <p:txBody>
          <a:bodyPr wrap="square">
            <a:spAutoFit/>
          </a:bodyPr>
          <a:lstStyle/>
          <a:p>
            <a:pPr>
              <a:defRPr sz="1000">
                <a:solidFill>
                  <a:srgbClr val="23262D"/>
                </a:solidFill>
                <a:latin typeface="Aptos"/>
              </a:defRPr>
            </a:pPr>
            <a:r>
              <a:t>Fraud vs non-fraud • claim status • claim type • fraud claims by type • region • claim amount by type/region</a:t>
            </a:r>
          </a:p>
        </p:txBody>
      </p:sp>
      <p:sp>
        <p:nvSpPr>
          <p:cNvPr id="22" name="Rectangle 21"/>
          <p:cNvSpPr/>
          <p:nvPr/>
        </p:nvSpPr>
        <p:spPr>
          <a:xfrm>
            <a:off x="594360" y="6510528"/>
            <a:ext cx="10972800" cy="9144"/>
          </a:xfrm>
          <a:prstGeom prst="rect">
            <a:avLst/>
          </a:prstGeom>
          <a:solidFill>
            <a:srgbClr val="E0E4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1792" y="6547104"/>
            <a:ext cx="9144000" cy="182880"/>
          </a:xfrm>
          <a:prstGeom prst="rect">
            <a:avLst/>
          </a:prstGeom>
          <a:noFill/>
        </p:spPr>
        <p:txBody>
          <a:bodyPr wrap="none">
            <a:spAutoFit/>
          </a:bodyPr>
          <a:lstStyle/>
          <a:p>
            <a:r>
              <a:rPr sz="800">
                <a:solidFill>
                  <a:srgbClr val="5C626E"/>
                </a:solidFill>
              </a:rPr>
              <a:t>Insurance Claims &amp; Fraud Analysis | Capstone Project</a:t>
            </a:r>
          </a:p>
        </p:txBody>
      </p:sp>
      <p:sp>
        <p:nvSpPr>
          <p:cNvPr id="24" name="TextBox 23"/>
          <p:cNvSpPr txBox="1"/>
          <p:nvPr/>
        </p:nvSpPr>
        <p:spPr>
          <a:xfrm>
            <a:off x="11155680" y="6519672"/>
            <a:ext cx="365760" cy="182880"/>
          </a:xfrm>
          <a:prstGeom prst="rect">
            <a:avLst/>
          </a:prstGeom>
          <a:noFill/>
        </p:spPr>
        <p:txBody>
          <a:bodyPr wrap="none">
            <a:spAutoFit/>
          </a:bodyPr>
          <a:lstStyle/>
          <a:p>
            <a:pPr algn="r"/>
            <a:r>
              <a:rPr sz="800">
                <a:solidFill>
                  <a:srgbClr val="5C626E"/>
                </a:solidFill>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594360"/>
          </a:xfrm>
          <a:prstGeom prst="rect">
            <a:avLst/>
          </a:prstGeom>
          <a:noFill/>
        </p:spPr>
        <p:txBody>
          <a:bodyPr wrap="none">
            <a:spAutoFit/>
          </a:bodyPr>
          <a:lstStyle/>
          <a:p>
            <a:r>
              <a:rPr sz="2500" b="1">
                <a:solidFill>
                  <a:srgbClr val="183A8A"/>
                </a:solidFill>
                <a:latin typeface="Aptos Display"/>
              </a:rPr>
              <a:t>9. Executive Dashboard — How to Read It</a:t>
            </a:r>
          </a:p>
        </p:txBody>
      </p:sp>
      <p:sp>
        <p:nvSpPr>
          <p:cNvPr id="4" name="TextBox 3"/>
          <p:cNvSpPr txBox="1"/>
          <p:nvPr/>
        </p:nvSpPr>
        <p:spPr>
          <a:xfrm>
            <a:off x="612648" y="896112"/>
            <a:ext cx="10789920" cy="320040"/>
          </a:xfrm>
          <a:prstGeom prst="rect">
            <a:avLst/>
          </a:prstGeom>
          <a:noFill/>
        </p:spPr>
        <p:txBody>
          <a:bodyPr wrap="none">
            <a:spAutoFit/>
          </a:bodyPr>
          <a:lstStyle/>
          <a:p>
            <a:r>
              <a:rPr sz="1050">
                <a:solidFill>
                  <a:srgbClr val="5C626E"/>
                </a:solidFill>
                <a:latin typeface="Aptos"/>
              </a:rPr>
              <a:t>Practical interpretation and example decisions</a:t>
            </a:r>
          </a:p>
        </p:txBody>
      </p:sp>
      <p:sp>
        <p:nvSpPr>
          <p:cNvPr id="5" name="Rounded Rectangle 4"/>
          <p:cNvSpPr/>
          <p:nvPr/>
        </p:nvSpPr>
        <p:spPr>
          <a:xfrm>
            <a:off x="640080" y="1234440"/>
            <a:ext cx="3383280" cy="1417320"/>
          </a:xfrm>
          <a:prstGeom prst="roundRect">
            <a:avLst/>
          </a:prstGeom>
          <a:solidFill>
            <a:srgbClr val="FFFFFF"/>
          </a:solidFill>
          <a:ln w="15240">
            <a:solidFill>
              <a:srgbClr val="E0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234440"/>
            <a:ext cx="64008" cy="14173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1247" y="1380744"/>
            <a:ext cx="3063240" cy="365760"/>
          </a:xfrm>
          <a:prstGeom prst="rect">
            <a:avLst/>
          </a:prstGeom>
          <a:noFill/>
        </p:spPr>
        <p:txBody>
          <a:bodyPr wrap="none">
            <a:spAutoFit/>
          </a:bodyPr>
          <a:lstStyle/>
          <a:p>
            <a:r>
              <a:rPr sz="1400" b="1">
                <a:solidFill>
                  <a:srgbClr val="183A8A"/>
                </a:solidFill>
                <a:latin typeface="Aptos"/>
              </a:rPr>
              <a:t>Fraud vs Non-Fraud</a:t>
            </a:r>
          </a:p>
        </p:txBody>
      </p:sp>
      <p:sp>
        <p:nvSpPr>
          <p:cNvPr id="8" name="TextBox 7"/>
          <p:cNvSpPr txBox="1"/>
          <p:nvPr/>
        </p:nvSpPr>
        <p:spPr>
          <a:xfrm>
            <a:off x="841247" y="1801368"/>
            <a:ext cx="3063240" cy="731520"/>
          </a:xfrm>
          <a:prstGeom prst="rect">
            <a:avLst/>
          </a:prstGeom>
          <a:noFill/>
        </p:spPr>
        <p:txBody>
          <a:bodyPr wrap="square">
            <a:spAutoFit/>
          </a:bodyPr>
          <a:lstStyle/>
          <a:p>
            <a:pPr>
              <a:defRPr sz="1150">
                <a:solidFill>
                  <a:srgbClr val="23262D"/>
                </a:solidFill>
                <a:latin typeface="Aptos"/>
              </a:defRPr>
            </a:pPr>
            <a:r>
              <a:t>The dashboard shows 24.85% flagged Yes and 75.15% flagged No in the captured view.</a:t>
            </a:r>
          </a:p>
        </p:txBody>
      </p:sp>
      <p:sp>
        <p:nvSpPr>
          <p:cNvPr id="9" name="Rounded Rectangle 8"/>
          <p:cNvSpPr/>
          <p:nvPr/>
        </p:nvSpPr>
        <p:spPr>
          <a:xfrm>
            <a:off x="4389120" y="1234440"/>
            <a:ext cx="3383280" cy="1417320"/>
          </a:xfrm>
          <a:prstGeom prst="roundRect">
            <a:avLst/>
          </a:prstGeom>
          <a:solidFill>
            <a:srgbClr val="FFFFFF"/>
          </a:solidFill>
          <a:ln w="15240">
            <a:solidFill>
              <a:srgbClr val="E0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89120" y="1234440"/>
            <a:ext cx="64008" cy="1417320"/>
          </a:xfrm>
          <a:prstGeom prst="rect">
            <a:avLst/>
          </a:prstGeom>
          <a:solidFill>
            <a:srgbClr val="16A0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90288" y="1380744"/>
            <a:ext cx="3063240" cy="365760"/>
          </a:xfrm>
          <a:prstGeom prst="rect">
            <a:avLst/>
          </a:prstGeom>
          <a:noFill/>
        </p:spPr>
        <p:txBody>
          <a:bodyPr wrap="none">
            <a:spAutoFit/>
          </a:bodyPr>
          <a:lstStyle/>
          <a:p>
            <a:r>
              <a:rPr sz="1400" b="1">
                <a:solidFill>
                  <a:srgbClr val="183A8A"/>
                </a:solidFill>
                <a:latin typeface="Aptos"/>
              </a:rPr>
              <a:t>Claim status</a:t>
            </a:r>
          </a:p>
        </p:txBody>
      </p:sp>
      <p:sp>
        <p:nvSpPr>
          <p:cNvPr id="12" name="TextBox 11"/>
          <p:cNvSpPr txBox="1"/>
          <p:nvPr/>
        </p:nvSpPr>
        <p:spPr>
          <a:xfrm>
            <a:off x="4590288" y="1801368"/>
            <a:ext cx="3063240" cy="731520"/>
          </a:xfrm>
          <a:prstGeom prst="rect">
            <a:avLst/>
          </a:prstGeom>
          <a:noFill/>
        </p:spPr>
        <p:txBody>
          <a:bodyPr wrap="square">
            <a:spAutoFit/>
          </a:bodyPr>
          <a:lstStyle/>
          <a:p>
            <a:pPr>
              <a:defRPr sz="1150">
                <a:solidFill>
                  <a:srgbClr val="23262D"/>
                </a:solidFill>
                <a:latin typeface="Aptos"/>
              </a:defRPr>
            </a:pPr>
            <a:r>
              <a:t>Approved is the largest status in the captured view, followed by Under Review and Rejected.</a:t>
            </a:r>
          </a:p>
        </p:txBody>
      </p:sp>
      <p:sp>
        <p:nvSpPr>
          <p:cNvPr id="13" name="Rounded Rectangle 12"/>
          <p:cNvSpPr/>
          <p:nvPr/>
        </p:nvSpPr>
        <p:spPr>
          <a:xfrm>
            <a:off x="8138160" y="1234440"/>
            <a:ext cx="3383280" cy="1417320"/>
          </a:xfrm>
          <a:prstGeom prst="roundRect">
            <a:avLst/>
          </a:prstGeom>
          <a:solidFill>
            <a:srgbClr val="FFFFFF"/>
          </a:solidFill>
          <a:ln w="15240">
            <a:solidFill>
              <a:srgbClr val="E0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138160" y="1234440"/>
            <a:ext cx="64008" cy="1417320"/>
          </a:xfrm>
          <a:prstGeom prst="rect">
            <a:avLst/>
          </a:prstGeom>
          <a:solidFill>
            <a:srgbClr val="5B5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39328" y="1380744"/>
            <a:ext cx="3063240" cy="365760"/>
          </a:xfrm>
          <a:prstGeom prst="rect">
            <a:avLst/>
          </a:prstGeom>
          <a:noFill/>
        </p:spPr>
        <p:txBody>
          <a:bodyPr wrap="none">
            <a:spAutoFit/>
          </a:bodyPr>
          <a:lstStyle/>
          <a:p>
            <a:r>
              <a:rPr sz="1400" b="1">
                <a:solidFill>
                  <a:srgbClr val="183A8A"/>
                </a:solidFill>
                <a:latin typeface="Aptos"/>
              </a:rPr>
              <a:t>Claim type</a:t>
            </a:r>
          </a:p>
        </p:txBody>
      </p:sp>
      <p:sp>
        <p:nvSpPr>
          <p:cNvPr id="16" name="TextBox 15"/>
          <p:cNvSpPr txBox="1"/>
          <p:nvPr/>
        </p:nvSpPr>
        <p:spPr>
          <a:xfrm>
            <a:off x="8339328" y="1801368"/>
            <a:ext cx="3063240" cy="731520"/>
          </a:xfrm>
          <a:prstGeom prst="rect">
            <a:avLst/>
          </a:prstGeom>
          <a:noFill/>
        </p:spPr>
        <p:txBody>
          <a:bodyPr wrap="square">
            <a:spAutoFit/>
          </a:bodyPr>
          <a:lstStyle/>
          <a:p>
            <a:pPr>
              <a:defRPr sz="1150">
                <a:solidFill>
                  <a:srgbClr val="23262D"/>
                </a:solidFill>
                <a:latin typeface="Aptos"/>
              </a:defRPr>
            </a:pPr>
            <a:r>
              <a:t>Theft, Accident, Property and Medical can be compared side-by-side for volume and financial patterns.</a:t>
            </a:r>
          </a:p>
        </p:txBody>
      </p:sp>
      <p:sp>
        <p:nvSpPr>
          <p:cNvPr id="17" name="Rounded Rectangle 16"/>
          <p:cNvSpPr/>
          <p:nvPr/>
        </p:nvSpPr>
        <p:spPr>
          <a:xfrm>
            <a:off x="640080" y="3017520"/>
            <a:ext cx="3383280" cy="1508760"/>
          </a:xfrm>
          <a:prstGeom prst="roundRect">
            <a:avLst/>
          </a:prstGeom>
          <a:solidFill>
            <a:srgbClr val="FFFFFF"/>
          </a:solidFill>
          <a:ln w="15240">
            <a:solidFill>
              <a:srgbClr val="E0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40080" y="3017520"/>
            <a:ext cx="64008" cy="1508760"/>
          </a:xfrm>
          <a:prstGeom prst="rect">
            <a:avLst/>
          </a:prstGeom>
          <a:solidFill>
            <a:srgbClr val="3498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41247" y="3163824"/>
            <a:ext cx="3063240" cy="365760"/>
          </a:xfrm>
          <a:prstGeom prst="rect">
            <a:avLst/>
          </a:prstGeom>
          <a:noFill/>
        </p:spPr>
        <p:txBody>
          <a:bodyPr wrap="none">
            <a:spAutoFit/>
          </a:bodyPr>
          <a:lstStyle/>
          <a:p>
            <a:r>
              <a:rPr sz="1400" b="1">
                <a:solidFill>
                  <a:srgbClr val="183A8A"/>
                </a:solidFill>
                <a:latin typeface="Aptos"/>
              </a:rPr>
              <a:t>Example business question</a:t>
            </a:r>
          </a:p>
        </p:txBody>
      </p:sp>
      <p:sp>
        <p:nvSpPr>
          <p:cNvPr id="20" name="TextBox 19"/>
          <p:cNvSpPr txBox="1"/>
          <p:nvPr/>
        </p:nvSpPr>
        <p:spPr>
          <a:xfrm>
            <a:off x="841247" y="3584448"/>
            <a:ext cx="3063240" cy="822959"/>
          </a:xfrm>
          <a:prstGeom prst="rect">
            <a:avLst/>
          </a:prstGeom>
          <a:noFill/>
        </p:spPr>
        <p:txBody>
          <a:bodyPr wrap="square">
            <a:spAutoFit/>
          </a:bodyPr>
          <a:lstStyle/>
          <a:p>
            <a:pPr>
              <a:defRPr sz="1200">
                <a:solidFill>
                  <a:srgbClr val="23262D"/>
                </a:solidFill>
                <a:latin typeface="Aptos"/>
              </a:defRPr>
            </a:pPr>
            <a:r>
              <a:t>“Which claim types contribute the most flagged claims?”</a:t>
            </a:r>
          </a:p>
        </p:txBody>
      </p:sp>
      <p:sp>
        <p:nvSpPr>
          <p:cNvPr id="21" name="Rounded Rectangle 20"/>
          <p:cNvSpPr/>
          <p:nvPr/>
        </p:nvSpPr>
        <p:spPr>
          <a:xfrm>
            <a:off x="4389120" y="3017520"/>
            <a:ext cx="3383280" cy="1508760"/>
          </a:xfrm>
          <a:prstGeom prst="roundRect">
            <a:avLst/>
          </a:prstGeom>
          <a:solidFill>
            <a:srgbClr val="FFFFFF"/>
          </a:solidFill>
          <a:ln w="15240">
            <a:solidFill>
              <a:srgbClr val="E0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389120" y="3017520"/>
            <a:ext cx="64008" cy="1508760"/>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90288" y="3163824"/>
            <a:ext cx="3063240" cy="365760"/>
          </a:xfrm>
          <a:prstGeom prst="rect">
            <a:avLst/>
          </a:prstGeom>
          <a:noFill/>
        </p:spPr>
        <p:txBody>
          <a:bodyPr wrap="none">
            <a:spAutoFit/>
          </a:bodyPr>
          <a:lstStyle/>
          <a:p>
            <a:r>
              <a:rPr sz="1400" b="1">
                <a:solidFill>
                  <a:srgbClr val="183A8A"/>
                </a:solidFill>
                <a:latin typeface="Aptos"/>
              </a:rPr>
              <a:t>Example action</a:t>
            </a:r>
          </a:p>
        </p:txBody>
      </p:sp>
      <p:sp>
        <p:nvSpPr>
          <p:cNvPr id="24" name="TextBox 23"/>
          <p:cNvSpPr txBox="1"/>
          <p:nvPr/>
        </p:nvSpPr>
        <p:spPr>
          <a:xfrm>
            <a:off x="4590288" y="3584448"/>
            <a:ext cx="3063240" cy="822959"/>
          </a:xfrm>
          <a:prstGeom prst="rect">
            <a:avLst/>
          </a:prstGeom>
          <a:noFill/>
        </p:spPr>
        <p:txBody>
          <a:bodyPr wrap="square">
            <a:spAutoFit/>
          </a:bodyPr>
          <a:lstStyle/>
          <a:p>
            <a:pPr>
              <a:defRPr sz="1200">
                <a:solidFill>
                  <a:srgbClr val="23262D"/>
                </a:solidFill>
                <a:latin typeface="Aptos"/>
              </a:defRPr>
            </a:pPr>
            <a:r>
              <a:t>Prioritize deeper review of segments that combine high volume, high value and elevated risk.</a:t>
            </a:r>
          </a:p>
        </p:txBody>
      </p:sp>
      <p:sp>
        <p:nvSpPr>
          <p:cNvPr id="25" name="Rounded Rectangle 24"/>
          <p:cNvSpPr/>
          <p:nvPr/>
        </p:nvSpPr>
        <p:spPr>
          <a:xfrm>
            <a:off x="8138160" y="3017520"/>
            <a:ext cx="3383280" cy="1508760"/>
          </a:xfrm>
          <a:prstGeom prst="roundRect">
            <a:avLst/>
          </a:prstGeom>
          <a:solidFill>
            <a:srgbClr val="FFFFFF"/>
          </a:solidFill>
          <a:ln w="15240">
            <a:solidFill>
              <a:srgbClr val="E0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138160" y="3017520"/>
            <a:ext cx="64008" cy="1508760"/>
          </a:xfrm>
          <a:prstGeom prst="rect">
            <a:avLst/>
          </a:prstGeom>
          <a:solidFill>
            <a:srgbClr val="16A0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39328" y="3163824"/>
            <a:ext cx="3063240" cy="365760"/>
          </a:xfrm>
          <a:prstGeom prst="rect">
            <a:avLst/>
          </a:prstGeom>
          <a:noFill/>
        </p:spPr>
        <p:txBody>
          <a:bodyPr wrap="none">
            <a:spAutoFit/>
          </a:bodyPr>
          <a:lstStyle/>
          <a:p>
            <a:r>
              <a:rPr sz="1400" b="1">
                <a:solidFill>
                  <a:srgbClr val="183A8A"/>
                </a:solidFill>
                <a:latin typeface="Aptos"/>
              </a:rPr>
              <a:t>Interactive controls</a:t>
            </a:r>
          </a:p>
        </p:txBody>
      </p:sp>
      <p:sp>
        <p:nvSpPr>
          <p:cNvPr id="28" name="TextBox 27"/>
          <p:cNvSpPr txBox="1"/>
          <p:nvPr/>
        </p:nvSpPr>
        <p:spPr>
          <a:xfrm>
            <a:off x="8339328" y="3584448"/>
            <a:ext cx="3063240" cy="822959"/>
          </a:xfrm>
          <a:prstGeom prst="rect">
            <a:avLst/>
          </a:prstGeom>
          <a:noFill/>
        </p:spPr>
        <p:txBody>
          <a:bodyPr wrap="square">
            <a:spAutoFit/>
          </a:bodyPr>
          <a:lstStyle/>
          <a:p>
            <a:pPr>
              <a:defRPr sz="1200">
                <a:solidFill>
                  <a:srgbClr val="23262D"/>
                </a:solidFill>
                <a:latin typeface="Aptos"/>
              </a:defRPr>
            </a:pPr>
            <a:r>
              <a:t>Region and Claim Type slicers let users focus the dashboard on a subset of claims.</a:t>
            </a:r>
          </a:p>
        </p:txBody>
      </p:sp>
      <p:sp>
        <p:nvSpPr>
          <p:cNvPr id="29" name="Rounded Rectangle 28"/>
          <p:cNvSpPr/>
          <p:nvPr/>
        </p:nvSpPr>
        <p:spPr>
          <a:xfrm>
            <a:off x="640080" y="4937760"/>
            <a:ext cx="10881360" cy="822960"/>
          </a:xfrm>
          <a:prstGeom prst="roundRect">
            <a:avLst/>
          </a:prstGeom>
          <a:solidFill>
            <a:srgbClr val="FFFFFF"/>
          </a:solidFill>
          <a:ln w="15240">
            <a:solidFill>
              <a:srgbClr val="E0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40080" y="4937760"/>
            <a:ext cx="64008" cy="822960"/>
          </a:xfrm>
          <a:prstGeom prst="rect">
            <a:avLst/>
          </a:prstGeom>
          <a:solidFill>
            <a:srgbClr val="18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41247" y="5084064"/>
            <a:ext cx="10561320" cy="365760"/>
          </a:xfrm>
          <a:prstGeom prst="rect">
            <a:avLst/>
          </a:prstGeom>
          <a:noFill/>
        </p:spPr>
        <p:txBody>
          <a:bodyPr wrap="none">
            <a:spAutoFit/>
          </a:bodyPr>
          <a:lstStyle/>
          <a:p>
            <a:r>
              <a:rPr sz="1400" b="1">
                <a:solidFill>
                  <a:srgbClr val="183A8A"/>
                </a:solidFill>
                <a:latin typeface="Aptos"/>
              </a:rPr>
              <a:t>Design principle</a:t>
            </a:r>
          </a:p>
        </p:txBody>
      </p:sp>
      <p:sp>
        <p:nvSpPr>
          <p:cNvPr id="32" name="TextBox 31"/>
          <p:cNvSpPr txBox="1"/>
          <p:nvPr/>
        </p:nvSpPr>
        <p:spPr>
          <a:xfrm>
            <a:off x="841247" y="5504688"/>
            <a:ext cx="10561320" cy="137160"/>
          </a:xfrm>
          <a:prstGeom prst="rect">
            <a:avLst/>
          </a:prstGeom>
          <a:noFill/>
        </p:spPr>
        <p:txBody>
          <a:bodyPr wrap="square">
            <a:spAutoFit/>
          </a:bodyPr>
          <a:lstStyle/>
          <a:p>
            <a:pPr>
              <a:defRPr sz="1100">
                <a:solidFill>
                  <a:srgbClr val="23262D"/>
                </a:solidFill>
                <a:latin typeface="Aptos"/>
              </a:defRPr>
            </a:pPr>
            <a:r>
              <a:t>KPIs answer “How much?” while charts answer “Where?”, “What type?”, “What status?” and “What should we investigate next?”</a:t>
            </a:r>
          </a:p>
        </p:txBody>
      </p:sp>
      <p:sp>
        <p:nvSpPr>
          <p:cNvPr id="33" name="Rectangle 32"/>
          <p:cNvSpPr/>
          <p:nvPr/>
        </p:nvSpPr>
        <p:spPr>
          <a:xfrm>
            <a:off x="594360" y="6510528"/>
            <a:ext cx="10972800" cy="9144"/>
          </a:xfrm>
          <a:prstGeom prst="rect">
            <a:avLst/>
          </a:prstGeom>
          <a:solidFill>
            <a:srgbClr val="E0E4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21792" y="6547104"/>
            <a:ext cx="9144000" cy="182880"/>
          </a:xfrm>
          <a:prstGeom prst="rect">
            <a:avLst/>
          </a:prstGeom>
          <a:noFill/>
        </p:spPr>
        <p:txBody>
          <a:bodyPr wrap="none">
            <a:spAutoFit/>
          </a:bodyPr>
          <a:lstStyle/>
          <a:p>
            <a:r>
              <a:rPr sz="800">
                <a:solidFill>
                  <a:srgbClr val="5C626E"/>
                </a:solidFill>
              </a:rPr>
              <a:t>Insurance Claims &amp; Fraud Analysis | Capstone Project</a:t>
            </a:r>
          </a:p>
        </p:txBody>
      </p:sp>
      <p:sp>
        <p:nvSpPr>
          <p:cNvPr id="35" name="TextBox 34"/>
          <p:cNvSpPr txBox="1"/>
          <p:nvPr/>
        </p:nvSpPr>
        <p:spPr>
          <a:xfrm>
            <a:off x="11155680" y="6519672"/>
            <a:ext cx="365760" cy="182880"/>
          </a:xfrm>
          <a:prstGeom prst="rect">
            <a:avLst/>
          </a:prstGeom>
          <a:noFill/>
        </p:spPr>
        <p:txBody>
          <a:bodyPr wrap="none">
            <a:spAutoFit/>
          </a:bodyPr>
          <a:lstStyle/>
          <a:p>
            <a:pPr algn="r"/>
            <a:r>
              <a:rPr sz="800">
                <a:solidFill>
                  <a:srgbClr val="5C626E"/>
                </a:solidFil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594360"/>
          </a:xfrm>
          <a:prstGeom prst="rect">
            <a:avLst/>
          </a:prstGeom>
          <a:noFill/>
        </p:spPr>
        <p:txBody>
          <a:bodyPr wrap="none">
            <a:spAutoFit/>
          </a:bodyPr>
          <a:lstStyle/>
          <a:p>
            <a:r>
              <a:rPr sz="2500" b="1">
                <a:solidFill>
                  <a:srgbClr val="183A8A"/>
                </a:solidFill>
                <a:latin typeface="Aptos Display"/>
              </a:rPr>
              <a:t>10. Risk Analysis Dashboard</a:t>
            </a:r>
          </a:p>
        </p:txBody>
      </p:sp>
      <p:sp>
        <p:nvSpPr>
          <p:cNvPr id="4" name="TextBox 3"/>
          <p:cNvSpPr txBox="1"/>
          <p:nvPr/>
        </p:nvSpPr>
        <p:spPr>
          <a:xfrm>
            <a:off x="612648" y="896112"/>
            <a:ext cx="10789920" cy="320040"/>
          </a:xfrm>
          <a:prstGeom prst="rect">
            <a:avLst/>
          </a:prstGeom>
          <a:noFill/>
        </p:spPr>
        <p:txBody>
          <a:bodyPr wrap="none">
            <a:spAutoFit/>
          </a:bodyPr>
          <a:lstStyle/>
          <a:p>
            <a:r>
              <a:rPr sz="1050">
                <a:solidFill>
                  <a:srgbClr val="5C626E"/>
                </a:solidFill>
                <a:latin typeface="Aptos"/>
              </a:rPr>
              <a:t>Detailed view of risk scores, claim amounts and premium amounts</a:t>
            </a:r>
          </a:p>
        </p:txBody>
      </p:sp>
      <p:pic>
        <p:nvPicPr>
          <p:cNvPr id="5" name="Picture 4" descr="image(20261008-180038).png"/>
          <p:cNvPicPr>
            <a:picLocks noChangeAspect="1"/>
          </p:cNvPicPr>
          <p:nvPr/>
        </p:nvPicPr>
        <p:blipFill>
          <a:blip r:embed="rId2"/>
          <a:stretch>
            <a:fillRect/>
          </a:stretch>
        </p:blipFill>
        <p:spPr>
          <a:xfrm>
            <a:off x="594360" y="1660481"/>
            <a:ext cx="7498079" cy="4222837"/>
          </a:xfrm>
          <a:prstGeom prst="rect">
            <a:avLst/>
          </a:prstGeom>
        </p:spPr>
      </p:pic>
      <p:sp>
        <p:nvSpPr>
          <p:cNvPr id="6" name="Rounded Rectangle 5"/>
          <p:cNvSpPr/>
          <p:nvPr/>
        </p:nvSpPr>
        <p:spPr>
          <a:xfrm>
            <a:off x="8275320" y="1188720"/>
            <a:ext cx="3154680" cy="1051560"/>
          </a:xfrm>
          <a:prstGeom prst="roundRect">
            <a:avLst/>
          </a:prstGeom>
          <a:solidFill>
            <a:srgbClr val="FFFFFF"/>
          </a:solidFill>
          <a:ln w="15240">
            <a:solidFill>
              <a:srgbClr val="E0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275320" y="1188720"/>
            <a:ext cx="64008" cy="1051560"/>
          </a:xfrm>
          <a:prstGeom prst="rect">
            <a:avLst/>
          </a:prstGeom>
          <a:solidFill>
            <a:srgbClr val="5B5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76488" y="1335024"/>
            <a:ext cx="2834640" cy="365760"/>
          </a:xfrm>
          <a:prstGeom prst="rect">
            <a:avLst/>
          </a:prstGeom>
          <a:noFill/>
        </p:spPr>
        <p:txBody>
          <a:bodyPr wrap="none">
            <a:spAutoFit/>
          </a:bodyPr>
          <a:lstStyle/>
          <a:p>
            <a:r>
              <a:rPr sz="1400" b="1">
                <a:solidFill>
                  <a:srgbClr val="183A8A"/>
                </a:solidFill>
                <a:latin typeface="Aptos"/>
              </a:rPr>
              <a:t>Risk score by type</a:t>
            </a:r>
          </a:p>
        </p:txBody>
      </p:sp>
      <p:sp>
        <p:nvSpPr>
          <p:cNvPr id="9" name="TextBox 8"/>
          <p:cNvSpPr txBox="1"/>
          <p:nvPr/>
        </p:nvSpPr>
        <p:spPr>
          <a:xfrm>
            <a:off x="8476488" y="1755648"/>
            <a:ext cx="2834640" cy="365759"/>
          </a:xfrm>
          <a:prstGeom prst="rect">
            <a:avLst/>
          </a:prstGeom>
          <a:noFill/>
        </p:spPr>
        <p:txBody>
          <a:bodyPr wrap="square">
            <a:spAutoFit/>
          </a:bodyPr>
          <a:lstStyle/>
          <a:p>
            <a:pPr>
              <a:defRPr sz="1050">
                <a:solidFill>
                  <a:srgbClr val="23262D"/>
                </a:solidFill>
                <a:latin typeface="Aptos"/>
              </a:defRPr>
            </a:pPr>
            <a:r>
              <a:t>Compare average fraud risk score across Theft, Accident, Property and Medical.</a:t>
            </a:r>
          </a:p>
        </p:txBody>
      </p:sp>
      <p:sp>
        <p:nvSpPr>
          <p:cNvPr id="10" name="Rounded Rectangle 9"/>
          <p:cNvSpPr/>
          <p:nvPr/>
        </p:nvSpPr>
        <p:spPr>
          <a:xfrm>
            <a:off x="8275320" y="2468880"/>
            <a:ext cx="3154680" cy="1051560"/>
          </a:xfrm>
          <a:prstGeom prst="roundRect">
            <a:avLst/>
          </a:prstGeom>
          <a:solidFill>
            <a:srgbClr val="FFFFFF"/>
          </a:solidFill>
          <a:ln w="15240">
            <a:solidFill>
              <a:srgbClr val="E0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275320" y="2468880"/>
            <a:ext cx="64008" cy="1051560"/>
          </a:xfrm>
          <a:prstGeom prst="rect">
            <a:avLst/>
          </a:prstGeom>
          <a:solidFill>
            <a:srgbClr val="3498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76488" y="2615184"/>
            <a:ext cx="2834640" cy="365760"/>
          </a:xfrm>
          <a:prstGeom prst="rect">
            <a:avLst/>
          </a:prstGeom>
          <a:noFill/>
        </p:spPr>
        <p:txBody>
          <a:bodyPr wrap="none">
            <a:spAutoFit/>
          </a:bodyPr>
          <a:lstStyle/>
          <a:p>
            <a:r>
              <a:rPr sz="1400" b="1">
                <a:solidFill>
                  <a:srgbClr val="183A8A"/>
                </a:solidFill>
                <a:latin typeface="Aptos"/>
              </a:rPr>
              <a:t>Risk score by region</a:t>
            </a:r>
          </a:p>
        </p:txBody>
      </p:sp>
      <p:sp>
        <p:nvSpPr>
          <p:cNvPr id="13" name="TextBox 12"/>
          <p:cNvSpPr txBox="1"/>
          <p:nvPr/>
        </p:nvSpPr>
        <p:spPr>
          <a:xfrm>
            <a:off x="8476488" y="3035808"/>
            <a:ext cx="2834640" cy="365759"/>
          </a:xfrm>
          <a:prstGeom prst="rect">
            <a:avLst/>
          </a:prstGeom>
          <a:noFill/>
        </p:spPr>
        <p:txBody>
          <a:bodyPr wrap="square">
            <a:spAutoFit/>
          </a:bodyPr>
          <a:lstStyle/>
          <a:p>
            <a:pPr>
              <a:defRPr sz="1050">
                <a:solidFill>
                  <a:srgbClr val="23262D"/>
                </a:solidFill>
                <a:latin typeface="Aptos"/>
              </a:defRPr>
            </a:pPr>
            <a:r>
              <a:t>Compare East, South, West and North to identify segment-level differences.</a:t>
            </a:r>
          </a:p>
        </p:txBody>
      </p:sp>
      <p:sp>
        <p:nvSpPr>
          <p:cNvPr id="14" name="Rounded Rectangle 13"/>
          <p:cNvSpPr/>
          <p:nvPr/>
        </p:nvSpPr>
        <p:spPr>
          <a:xfrm>
            <a:off x="8275320" y="3749039"/>
            <a:ext cx="3154680" cy="1051560"/>
          </a:xfrm>
          <a:prstGeom prst="roundRect">
            <a:avLst/>
          </a:prstGeom>
          <a:solidFill>
            <a:srgbClr val="FFFFFF"/>
          </a:solidFill>
          <a:ln w="15240">
            <a:solidFill>
              <a:srgbClr val="E0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275320" y="3749039"/>
            <a:ext cx="64008" cy="105156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76488" y="3895344"/>
            <a:ext cx="2834640" cy="365760"/>
          </a:xfrm>
          <a:prstGeom prst="rect">
            <a:avLst/>
          </a:prstGeom>
          <a:noFill/>
        </p:spPr>
        <p:txBody>
          <a:bodyPr wrap="none">
            <a:spAutoFit/>
          </a:bodyPr>
          <a:lstStyle/>
          <a:p>
            <a:r>
              <a:rPr sz="1400" b="1">
                <a:solidFill>
                  <a:srgbClr val="183A8A"/>
                </a:solidFill>
                <a:latin typeface="Aptos"/>
              </a:rPr>
              <a:t>Risk score by gender</a:t>
            </a:r>
          </a:p>
        </p:txBody>
      </p:sp>
      <p:sp>
        <p:nvSpPr>
          <p:cNvPr id="17" name="TextBox 16"/>
          <p:cNvSpPr txBox="1"/>
          <p:nvPr/>
        </p:nvSpPr>
        <p:spPr>
          <a:xfrm>
            <a:off x="8476488" y="4315968"/>
            <a:ext cx="2834640" cy="365759"/>
          </a:xfrm>
          <a:prstGeom prst="rect">
            <a:avLst/>
          </a:prstGeom>
          <a:noFill/>
        </p:spPr>
        <p:txBody>
          <a:bodyPr wrap="square">
            <a:spAutoFit/>
          </a:bodyPr>
          <a:lstStyle/>
          <a:p>
            <a:pPr>
              <a:defRPr sz="1050">
                <a:solidFill>
                  <a:srgbClr val="23262D"/>
                </a:solidFill>
                <a:latin typeface="Aptos"/>
              </a:defRPr>
            </a:pPr>
            <a:r>
              <a:t>Compare the two gender categories without treating the result as causal.</a:t>
            </a:r>
          </a:p>
        </p:txBody>
      </p:sp>
      <p:sp>
        <p:nvSpPr>
          <p:cNvPr id="18" name="Rounded Rectangle 17"/>
          <p:cNvSpPr/>
          <p:nvPr/>
        </p:nvSpPr>
        <p:spPr>
          <a:xfrm>
            <a:off x="8275320" y="5029200"/>
            <a:ext cx="3154680" cy="1051560"/>
          </a:xfrm>
          <a:prstGeom prst="roundRect">
            <a:avLst/>
          </a:prstGeom>
          <a:solidFill>
            <a:srgbClr val="FFFFFF"/>
          </a:solidFill>
          <a:ln w="15240">
            <a:solidFill>
              <a:srgbClr val="E0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275320" y="5029200"/>
            <a:ext cx="64008" cy="1051560"/>
          </a:xfrm>
          <a:prstGeom prst="rect">
            <a:avLst/>
          </a:prstGeom>
          <a:solidFill>
            <a:srgbClr val="16A0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476488" y="5175504"/>
            <a:ext cx="2834640" cy="365760"/>
          </a:xfrm>
          <a:prstGeom prst="rect">
            <a:avLst/>
          </a:prstGeom>
          <a:noFill/>
        </p:spPr>
        <p:txBody>
          <a:bodyPr wrap="none">
            <a:spAutoFit/>
          </a:bodyPr>
          <a:lstStyle/>
          <a:p>
            <a:r>
              <a:rPr sz="1400" b="1">
                <a:solidFill>
                  <a:srgbClr val="183A8A"/>
                </a:solidFill>
                <a:latin typeface="Aptos"/>
              </a:rPr>
              <a:t>Financial context</a:t>
            </a:r>
          </a:p>
        </p:txBody>
      </p:sp>
      <p:sp>
        <p:nvSpPr>
          <p:cNvPr id="21" name="TextBox 20"/>
          <p:cNvSpPr txBox="1"/>
          <p:nvPr/>
        </p:nvSpPr>
        <p:spPr>
          <a:xfrm>
            <a:off x="8476488" y="5596128"/>
            <a:ext cx="2834640" cy="365759"/>
          </a:xfrm>
          <a:prstGeom prst="rect">
            <a:avLst/>
          </a:prstGeom>
          <a:noFill/>
        </p:spPr>
        <p:txBody>
          <a:bodyPr wrap="square">
            <a:spAutoFit/>
          </a:bodyPr>
          <a:lstStyle/>
          <a:p>
            <a:pPr>
              <a:defRPr sz="1050">
                <a:solidFill>
                  <a:srgbClr val="23262D"/>
                </a:solidFill>
                <a:latin typeface="Aptos"/>
              </a:defRPr>
            </a:pPr>
            <a:r>
              <a:t>Claim amount and premium amount visuals add a financial lens to the risk analysis.</a:t>
            </a:r>
          </a:p>
        </p:txBody>
      </p:sp>
      <p:sp>
        <p:nvSpPr>
          <p:cNvPr id="22" name="Rectangle 21"/>
          <p:cNvSpPr/>
          <p:nvPr/>
        </p:nvSpPr>
        <p:spPr>
          <a:xfrm>
            <a:off x="594360" y="6510528"/>
            <a:ext cx="10972800" cy="9144"/>
          </a:xfrm>
          <a:prstGeom prst="rect">
            <a:avLst/>
          </a:prstGeom>
          <a:solidFill>
            <a:srgbClr val="E0E4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1792" y="6547104"/>
            <a:ext cx="9144000" cy="182880"/>
          </a:xfrm>
          <a:prstGeom prst="rect">
            <a:avLst/>
          </a:prstGeom>
          <a:noFill/>
        </p:spPr>
        <p:txBody>
          <a:bodyPr wrap="none">
            <a:spAutoFit/>
          </a:bodyPr>
          <a:lstStyle/>
          <a:p>
            <a:r>
              <a:rPr sz="800">
                <a:solidFill>
                  <a:srgbClr val="5C626E"/>
                </a:solidFill>
              </a:rPr>
              <a:t>Insurance Claims &amp; Fraud Analysis | Capstone Project</a:t>
            </a:r>
          </a:p>
        </p:txBody>
      </p:sp>
      <p:sp>
        <p:nvSpPr>
          <p:cNvPr id="24" name="TextBox 23"/>
          <p:cNvSpPr txBox="1"/>
          <p:nvPr/>
        </p:nvSpPr>
        <p:spPr>
          <a:xfrm>
            <a:off x="11155680" y="6519672"/>
            <a:ext cx="365760" cy="182880"/>
          </a:xfrm>
          <a:prstGeom prst="rect">
            <a:avLst/>
          </a:prstGeom>
          <a:noFill/>
        </p:spPr>
        <p:txBody>
          <a:bodyPr wrap="none">
            <a:spAutoFit/>
          </a:bodyPr>
          <a:lstStyle/>
          <a:p>
            <a:pPr algn="r"/>
            <a:r>
              <a:rPr sz="800">
                <a:solidFill>
                  <a:srgbClr val="5C626E"/>
                </a:solidFil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594360"/>
          </a:xfrm>
          <a:prstGeom prst="rect">
            <a:avLst/>
          </a:prstGeom>
          <a:noFill/>
        </p:spPr>
        <p:txBody>
          <a:bodyPr wrap="none">
            <a:spAutoFit/>
          </a:bodyPr>
          <a:lstStyle/>
          <a:p>
            <a:r>
              <a:rPr sz="2500" b="1">
                <a:solidFill>
                  <a:srgbClr val="183A8A"/>
                </a:solidFill>
                <a:latin typeface="Aptos Display"/>
              </a:rPr>
              <a:t>11. Key Findings From the Captured Dashboards</a:t>
            </a:r>
          </a:p>
        </p:txBody>
      </p:sp>
      <p:sp>
        <p:nvSpPr>
          <p:cNvPr id="4" name="TextBox 3"/>
          <p:cNvSpPr txBox="1"/>
          <p:nvPr/>
        </p:nvSpPr>
        <p:spPr>
          <a:xfrm>
            <a:off x="612648" y="896112"/>
            <a:ext cx="10789920" cy="320040"/>
          </a:xfrm>
          <a:prstGeom prst="rect">
            <a:avLst/>
          </a:prstGeom>
          <a:noFill/>
        </p:spPr>
        <p:txBody>
          <a:bodyPr wrap="none">
            <a:spAutoFit/>
          </a:bodyPr>
          <a:lstStyle/>
          <a:p>
            <a:r>
              <a:rPr sz="1050">
                <a:solidFill>
                  <a:srgbClr val="5C626E"/>
                </a:solidFill>
                <a:latin typeface="Aptos"/>
              </a:rPr>
              <a:t>What can be stated directly from the screenshots</a:t>
            </a:r>
          </a:p>
        </p:txBody>
      </p:sp>
      <p:sp>
        <p:nvSpPr>
          <p:cNvPr id="5" name="Rounded Rectangle 4"/>
          <p:cNvSpPr/>
          <p:nvPr/>
        </p:nvSpPr>
        <p:spPr>
          <a:xfrm>
            <a:off x="685800" y="1325880"/>
            <a:ext cx="3246120" cy="1417320"/>
          </a:xfrm>
          <a:prstGeom prst="roundRect">
            <a:avLst/>
          </a:prstGeom>
          <a:solidFill>
            <a:srgbClr val="FFFFFF"/>
          </a:solidFill>
          <a:ln>
            <a:solidFill>
              <a:srgbClr val="E0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85800" y="1325880"/>
            <a:ext cx="3246120" cy="64008"/>
          </a:xfrm>
          <a:prstGeom prst="rect">
            <a:avLst/>
          </a:prstGeom>
          <a:solidFill>
            <a:srgbClr val="18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527048"/>
            <a:ext cx="2880360" cy="502920"/>
          </a:xfrm>
          <a:prstGeom prst="rect">
            <a:avLst/>
          </a:prstGeom>
          <a:noFill/>
        </p:spPr>
        <p:txBody>
          <a:bodyPr wrap="none">
            <a:spAutoFit/>
          </a:bodyPr>
          <a:lstStyle/>
          <a:p>
            <a:r>
              <a:rPr sz="2600" b="1">
                <a:solidFill>
                  <a:srgbClr val="183A8A"/>
                </a:solidFill>
                <a:latin typeface="Aptos Display"/>
              </a:rPr>
              <a:t>50K</a:t>
            </a:r>
          </a:p>
        </p:txBody>
      </p:sp>
      <p:sp>
        <p:nvSpPr>
          <p:cNvPr id="8" name="TextBox 7"/>
          <p:cNvSpPr txBox="1"/>
          <p:nvPr/>
        </p:nvSpPr>
        <p:spPr>
          <a:xfrm>
            <a:off x="868680" y="2075688"/>
            <a:ext cx="2880360" cy="274320"/>
          </a:xfrm>
          <a:prstGeom prst="rect">
            <a:avLst/>
          </a:prstGeom>
          <a:noFill/>
        </p:spPr>
        <p:txBody>
          <a:bodyPr wrap="none">
            <a:spAutoFit/>
          </a:bodyPr>
          <a:lstStyle/>
          <a:p>
            <a:r>
              <a:rPr sz="1050">
                <a:solidFill>
                  <a:srgbClr val="5C626E"/>
                </a:solidFill>
                <a:latin typeface="Aptos"/>
              </a:rPr>
              <a:t>Total claims shown in Executive Dashboard</a:t>
            </a:r>
          </a:p>
        </p:txBody>
      </p:sp>
      <p:sp>
        <p:nvSpPr>
          <p:cNvPr id="9" name="Rounded Rectangle 8"/>
          <p:cNvSpPr/>
          <p:nvPr/>
        </p:nvSpPr>
        <p:spPr>
          <a:xfrm>
            <a:off x="4389120" y="1325880"/>
            <a:ext cx="3246120" cy="1417320"/>
          </a:xfrm>
          <a:prstGeom prst="roundRect">
            <a:avLst/>
          </a:prstGeom>
          <a:solidFill>
            <a:srgbClr val="FFFFFF"/>
          </a:solidFill>
          <a:ln>
            <a:solidFill>
              <a:srgbClr val="E0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89120" y="1325880"/>
            <a:ext cx="3246120" cy="64008"/>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0" y="1527048"/>
            <a:ext cx="2880360" cy="502920"/>
          </a:xfrm>
          <a:prstGeom prst="rect">
            <a:avLst/>
          </a:prstGeom>
          <a:noFill/>
        </p:spPr>
        <p:txBody>
          <a:bodyPr wrap="none">
            <a:spAutoFit/>
          </a:bodyPr>
          <a:lstStyle/>
          <a:p>
            <a:r>
              <a:rPr sz="2600" b="1">
                <a:solidFill>
                  <a:srgbClr val="E74C3C"/>
                </a:solidFill>
                <a:latin typeface="Aptos Display"/>
              </a:rPr>
              <a:t>12.427K</a:t>
            </a:r>
          </a:p>
        </p:txBody>
      </p:sp>
      <p:sp>
        <p:nvSpPr>
          <p:cNvPr id="12" name="TextBox 11"/>
          <p:cNvSpPr txBox="1"/>
          <p:nvPr/>
        </p:nvSpPr>
        <p:spPr>
          <a:xfrm>
            <a:off x="4572000" y="2075688"/>
            <a:ext cx="2880360" cy="274320"/>
          </a:xfrm>
          <a:prstGeom prst="rect">
            <a:avLst/>
          </a:prstGeom>
          <a:noFill/>
        </p:spPr>
        <p:txBody>
          <a:bodyPr wrap="none">
            <a:spAutoFit/>
          </a:bodyPr>
          <a:lstStyle/>
          <a:p>
            <a:r>
              <a:rPr sz="1050">
                <a:solidFill>
                  <a:srgbClr val="5C626E"/>
                </a:solidFill>
                <a:latin typeface="Aptos"/>
              </a:rPr>
              <a:t>Claims flagged Yes for Fraud_Flag in the captured view</a:t>
            </a:r>
          </a:p>
        </p:txBody>
      </p:sp>
      <p:sp>
        <p:nvSpPr>
          <p:cNvPr id="13" name="Rounded Rectangle 12"/>
          <p:cNvSpPr/>
          <p:nvPr/>
        </p:nvSpPr>
        <p:spPr>
          <a:xfrm>
            <a:off x="8092440" y="1325880"/>
            <a:ext cx="3246120" cy="1417320"/>
          </a:xfrm>
          <a:prstGeom prst="roundRect">
            <a:avLst/>
          </a:prstGeom>
          <a:solidFill>
            <a:srgbClr val="FFFFFF"/>
          </a:solidFill>
          <a:ln>
            <a:solidFill>
              <a:srgbClr val="E0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92440" y="1325880"/>
            <a:ext cx="3246120" cy="64008"/>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75319" y="1527048"/>
            <a:ext cx="2880360" cy="502920"/>
          </a:xfrm>
          <a:prstGeom prst="rect">
            <a:avLst/>
          </a:prstGeom>
          <a:noFill/>
        </p:spPr>
        <p:txBody>
          <a:bodyPr wrap="none">
            <a:spAutoFit/>
          </a:bodyPr>
          <a:lstStyle/>
          <a:p>
            <a:r>
              <a:rPr sz="2600" b="1">
                <a:solidFill>
                  <a:srgbClr val="F39C12"/>
                </a:solidFill>
                <a:latin typeface="Aptos Display"/>
              </a:rPr>
              <a:t>24.85%</a:t>
            </a:r>
          </a:p>
        </p:txBody>
      </p:sp>
      <p:sp>
        <p:nvSpPr>
          <p:cNvPr id="16" name="TextBox 15"/>
          <p:cNvSpPr txBox="1"/>
          <p:nvPr/>
        </p:nvSpPr>
        <p:spPr>
          <a:xfrm>
            <a:off x="8275319" y="2075688"/>
            <a:ext cx="2880360" cy="274320"/>
          </a:xfrm>
          <a:prstGeom prst="rect">
            <a:avLst/>
          </a:prstGeom>
          <a:noFill/>
        </p:spPr>
        <p:txBody>
          <a:bodyPr wrap="none">
            <a:spAutoFit/>
          </a:bodyPr>
          <a:lstStyle/>
          <a:p>
            <a:r>
              <a:rPr sz="1050">
                <a:solidFill>
                  <a:srgbClr val="5C626E"/>
                </a:solidFill>
                <a:latin typeface="Aptos"/>
              </a:rPr>
              <a:t>Share of claims shown as Fraud_Flag = Yes</a:t>
            </a:r>
          </a:p>
        </p:txBody>
      </p:sp>
      <p:sp>
        <p:nvSpPr>
          <p:cNvPr id="17" name="Rounded Rectangle 16"/>
          <p:cNvSpPr/>
          <p:nvPr/>
        </p:nvSpPr>
        <p:spPr>
          <a:xfrm>
            <a:off x="685800" y="3383280"/>
            <a:ext cx="3246120" cy="1417320"/>
          </a:xfrm>
          <a:prstGeom prst="roundRect">
            <a:avLst/>
          </a:prstGeom>
          <a:solidFill>
            <a:srgbClr val="FFFFFF"/>
          </a:solidFill>
          <a:ln>
            <a:solidFill>
              <a:srgbClr val="E0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85800" y="3383280"/>
            <a:ext cx="3246120" cy="64008"/>
          </a:xfrm>
          <a:prstGeom prst="rect">
            <a:avLst/>
          </a:prstGeom>
          <a:solidFill>
            <a:srgbClr val="16A0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8680" y="3584448"/>
            <a:ext cx="2880360" cy="502920"/>
          </a:xfrm>
          <a:prstGeom prst="rect">
            <a:avLst/>
          </a:prstGeom>
          <a:noFill/>
        </p:spPr>
        <p:txBody>
          <a:bodyPr wrap="none">
            <a:spAutoFit/>
          </a:bodyPr>
          <a:lstStyle/>
          <a:p>
            <a:r>
              <a:rPr sz="2600" b="1">
                <a:solidFill>
                  <a:srgbClr val="16A085"/>
                </a:solidFill>
                <a:latin typeface="Aptos Display"/>
              </a:rPr>
              <a:t>1.25bn</a:t>
            </a:r>
          </a:p>
        </p:txBody>
      </p:sp>
      <p:sp>
        <p:nvSpPr>
          <p:cNvPr id="20" name="TextBox 19"/>
          <p:cNvSpPr txBox="1"/>
          <p:nvPr/>
        </p:nvSpPr>
        <p:spPr>
          <a:xfrm>
            <a:off x="868680" y="4133088"/>
            <a:ext cx="2880360" cy="274320"/>
          </a:xfrm>
          <a:prstGeom prst="rect">
            <a:avLst/>
          </a:prstGeom>
          <a:noFill/>
        </p:spPr>
        <p:txBody>
          <a:bodyPr wrap="none">
            <a:spAutoFit/>
          </a:bodyPr>
          <a:lstStyle/>
          <a:p>
            <a:r>
              <a:rPr sz="1050">
                <a:solidFill>
                  <a:srgbClr val="5C626E"/>
                </a:solidFill>
                <a:latin typeface="Aptos"/>
              </a:rPr>
              <a:t>Total claim amount shown</a:t>
            </a:r>
          </a:p>
        </p:txBody>
      </p:sp>
      <p:sp>
        <p:nvSpPr>
          <p:cNvPr id="21" name="Rounded Rectangle 20"/>
          <p:cNvSpPr/>
          <p:nvPr/>
        </p:nvSpPr>
        <p:spPr>
          <a:xfrm>
            <a:off x="4389120" y="3383280"/>
            <a:ext cx="3246120" cy="1417320"/>
          </a:xfrm>
          <a:prstGeom prst="roundRect">
            <a:avLst/>
          </a:prstGeom>
          <a:solidFill>
            <a:srgbClr val="FFFFFF"/>
          </a:solidFill>
          <a:ln>
            <a:solidFill>
              <a:srgbClr val="E0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389120" y="3383280"/>
            <a:ext cx="3246120" cy="64008"/>
          </a:xfrm>
          <a:prstGeom prst="rect">
            <a:avLst/>
          </a:prstGeom>
          <a:solidFill>
            <a:srgbClr val="5B5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72000" y="3584448"/>
            <a:ext cx="2880360" cy="502920"/>
          </a:xfrm>
          <a:prstGeom prst="rect">
            <a:avLst/>
          </a:prstGeom>
          <a:noFill/>
        </p:spPr>
        <p:txBody>
          <a:bodyPr wrap="none">
            <a:spAutoFit/>
          </a:bodyPr>
          <a:lstStyle/>
          <a:p>
            <a:r>
              <a:rPr sz="2600" b="1">
                <a:solidFill>
                  <a:srgbClr val="5B56A6"/>
                </a:solidFill>
                <a:latin typeface="Aptos Display"/>
              </a:rPr>
              <a:t>50 / 49</a:t>
            </a:r>
          </a:p>
        </p:txBody>
      </p:sp>
      <p:sp>
        <p:nvSpPr>
          <p:cNvPr id="24" name="TextBox 23"/>
          <p:cNvSpPr txBox="1"/>
          <p:nvPr/>
        </p:nvSpPr>
        <p:spPr>
          <a:xfrm>
            <a:off x="4572000" y="4133088"/>
            <a:ext cx="2880360" cy="274320"/>
          </a:xfrm>
          <a:prstGeom prst="rect">
            <a:avLst/>
          </a:prstGeom>
          <a:noFill/>
        </p:spPr>
        <p:txBody>
          <a:bodyPr wrap="none">
            <a:spAutoFit/>
          </a:bodyPr>
          <a:lstStyle/>
          <a:p>
            <a:r>
              <a:rPr sz="1050">
                <a:solidFill>
                  <a:srgbClr val="5C626E"/>
                </a:solidFill>
                <a:latin typeface="Aptos"/>
              </a:rPr>
              <a:t>Average fraud risk scores displayed across several segments</a:t>
            </a:r>
          </a:p>
        </p:txBody>
      </p:sp>
      <p:sp>
        <p:nvSpPr>
          <p:cNvPr id="25" name="Rounded Rectangle 24"/>
          <p:cNvSpPr/>
          <p:nvPr/>
        </p:nvSpPr>
        <p:spPr>
          <a:xfrm>
            <a:off x="8092440" y="3383280"/>
            <a:ext cx="3246120" cy="1417320"/>
          </a:xfrm>
          <a:prstGeom prst="roundRect">
            <a:avLst/>
          </a:prstGeom>
          <a:solidFill>
            <a:srgbClr val="FFFFFF"/>
          </a:solidFill>
          <a:ln>
            <a:solidFill>
              <a:srgbClr val="E0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092440" y="3383280"/>
            <a:ext cx="3246120" cy="64008"/>
          </a:xfrm>
          <a:prstGeom prst="rect">
            <a:avLst/>
          </a:prstGeom>
          <a:solidFill>
            <a:srgbClr val="3498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75319" y="3584448"/>
            <a:ext cx="2880360" cy="502920"/>
          </a:xfrm>
          <a:prstGeom prst="rect">
            <a:avLst/>
          </a:prstGeom>
          <a:noFill/>
        </p:spPr>
        <p:txBody>
          <a:bodyPr wrap="none">
            <a:spAutoFit/>
          </a:bodyPr>
          <a:lstStyle/>
          <a:p>
            <a:r>
              <a:rPr sz="2600" b="1">
                <a:solidFill>
                  <a:srgbClr val="3498DB"/>
                </a:solidFill>
                <a:latin typeface="Aptos Display"/>
              </a:rPr>
              <a:t>25K / 2.6K</a:t>
            </a:r>
          </a:p>
        </p:txBody>
      </p:sp>
      <p:sp>
        <p:nvSpPr>
          <p:cNvPr id="28" name="TextBox 27"/>
          <p:cNvSpPr txBox="1"/>
          <p:nvPr/>
        </p:nvSpPr>
        <p:spPr>
          <a:xfrm>
            <a:off x="8275319" y="4133088"/>
            <a:ext cx="2880360" cy="274320"/>
          </a:xfrm>
          <a:prstGeom prst="rect">
            <a:avLst/>
          </a:prstGeom>
          <a:noFill/>
        </p:spPr>
        <p:txBody>
          <a:bodyPr wrap="none">
            <a:spAutoFit/>
          </a:bodyPr>
          <a:lstStyle/>
          <a:p>
            <a:r>
              <a:rPr sz="1050">
                <a:solidFill>
                  <a:srgbClr val="5C626E"/>
                </a:solidFill>
                <a:latin typeface="Aptos"/>
              </a:rPr>
              <a:t>Typical displayed average claim / premium amounts in Risk Analysis</a:t>
            </a:r>
          </a:p>
        </p:txBody>
      </p:sp>
      <p:sp>
        <p:nvSpPr>
          <p:cNvPr id="29" name="Rounded Rectangle 28"/>
          <p:cNvSpPr/>
          <p:nvPr/>
        </p:nvSpPr>
        <p:spPr>
          <a:xfrm>
            <a:off x="685800" y="5532120"/>
            <a:ext cx="10835640" cy="566928"/>
          </a:xfrm>
          <a:prstGeom prst="roundRect">
            <a:avLst/>
          </a:prstGeom>
          <a:solidFill>
            <a:srgbClr val="FFFFFF"/>
          </a:solidFill>
          <a:ln w="15240">
            <a:solidFill>
              <a:srgbClr val="E0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85800" y="5532120"/>
            <a:ext cx="64008" cy="566928"/>
          </a:xfrm>
          <a:prstGeom prst="rect">
            <a:avLst/>
          </a:prstGeom>
          <a:solidFill>
            <a:srgbClr val="18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86968" y="5678424"/>
            <a:ext cx="10515600" cy="365760"/>
          </a:xfrm>
          <a:prstGeom prst="rect">
            <a:avLst/>
          </a:prstGeom>
          <a:noFill/>
        </p:spPr>
        <p:txBody>
          <a:bodyPr wrap="none">
            <a:spAutoFit/>
          </a:bodyPr>
          <a:lstStyle/>
          <a:p>
            <a:r>
              <a:rPr sz="1150" b="1">
                <a:solidFill>
                  <a:srgbClr val="183A8A"/>
                </a:solidFill>
                <a:latin typeface="Aptos"/>
              </a:rPr>
              <a:t>Interpretation</a:t>
            </a:r>
          </a:p>
        </p:txBody>
      </p:sp>
      <p:sp>
        <p:nvSpPr>
          <p:cNvPr id="32" name="TextBox 31"/>
          <p:cNvSpPr txBox="1"/>
          <p:nvPr/>
        </p:nvSpPr>
        <p:spPr>
          <a:xfrm>
            <a:off x="886968" y="6099048"/>
            <a:ext cx="10515600" cy="-118872"/>
          </a:xfrm>
          <a:prstGeom prst="rect">
            <a:avLst/>
          </a:prstGeom>
          <a:noFill/>
        </p:spPr>
        <p:txBody>
          <a:bodyPr wrap="square">
            <a:spAutoFit/>
          </a:bodyPr>
          <a:lstStyle/>
          <a:p>
            <a:pPr>
              <a:defRPr sz="950">
                <a:solidFill>
                  <a:srgbClr val="23262D"/>
                </a:solidFill>
                <a:latin typeface="Aptos"/>
              </a:defRPr>
            </a:pPr>
            <a:r>
              <a:t>The dashboard provides descriptive evidence for prioritization; it does not establish causation or prove that a flagged claim is fraudulent.</a:t>
            </a:r>
          </a:p>
        </p:txBody>
      </p:sp>
      <p:sp>
        <p:nvSpPr>
          <p:cNvPr id="33" name="Rectangle 32"/>
          <p:cNvSpPr/>
          <p:nvPr/>
        </p:nvSpPr>
        <p:spPr>
          <a:xfrm>
            <a:off x="594360" y="6510528"/>
            <a:ext cx="10972800" cy="9144"/>
          </a:xfrm>
          <a:prstGeom prst="rect">
            <a:avLst/>
          </a:prstGeom>
          <a:solidFill>
            <a:srgbClr val="E0E4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21792" y="6547104"/>
            <a:ext cx="9144000" cy="182880"/>
          </a:xfrm>
          <a:prstGeom prst="rect">
            <a:avLst/>
          </a:prstGeom>
          <a:noFill/>
        </p:spPr>
        <p:txBody>
          <a:bodyPr wrap="none">
            <a:spAutoFit/>
          </a:bodyPr>
          <a:lstStyle/>
          <a:p>
            <a:r>
              <a:rPr sz="800">
                <a:solidFill>
                  <a:srgbClr val="5C626E"/>
                </a:solidFill>
              </a:rPr>
              <a:t>Insurance Claims &amp; Fraud Analysis | Capstone Project</a:t>
            </a:r>
          </a:p>
        </p:txBody>
      </p:sp>
      <p:sp>
        <p:nvSpPr>
          <p:cNvPr id="35" name="TextBox 34"/>
          <p:cNvSpPr txBox="1"/>
          <p:nvPr/>
        </p:nvSpPr>
        <p:spPr>
          <a:xfrm>
            <a:off x="11155680" y="6519672"/>
            <a:ext cx="365760" cy="182880"/>
          </a:xfrm>
          <a:prstGeom prst="rect">
            <a:avLst/>
          </a:prstGeom>
          <a:noFill/>
        </p:spPr>
        <p:txBody>
          <a:bodyPr wrap="none">
            <a:spAutoFit/>
          </a:bodyPr>
          <a:lstStyle/>
          <a:p>
            <a:pPr algn="r"/>
            <a:r>
              <a:rPr sz="800">
                <a:solidFill>
                  <a:srgbClr val="5C626E"/>
                </a:solidFil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594360"/>
          </a:xfrm>
          <a:prstGeom prst="rect">
            <a:avLst/>
          </a:prstGeom>
          <a:noFill/>
        </p:spPr>
        <p:txBody>
          <a:bodyPr wrap="none">
            <a:spAutoFit/>
          </a:bodyPr>
          <a:lstStyle/>
          <a:p>
            <a:r>
              <a:rPr sz="2500" b="1">
                <a:solidFill>
                  <a:srgbClr val="183A8A"/>
                </a:solidFill>
                <a:latin typeface="Aptos Display"/>
              </a:rPr>
              <a:t>12. Business Uses, Benefits &amp; Potential Losses</a:t>
            </a:r>
          </a:p>
        </p:txBody>
      </p:sp>
      <p:sp>
        <p:nvSpPr>
          <p:cNvPr id="4" name="TextBox 3"/>
          <p:cNvSpPr txBox="1"/>
          <p:nvPr/>
        </p:nvSpPr>
        <p:spPr>
          <a:xfrm>
            <a:off x="612648" y="896112"/>
            <a:ext cx="10789920" cy="320040"/>
          </a:xfrm>
          <a:prstGeom prst="rect">
            <a:avLst/>
          </a:prstGeom>
          <a:noFill/>
        </p:spPr>
        <p:txBody>
          <a:bodyPr wrap="none">
            <a:spAutoFit/>
          </a:bodyPr>
          <a:lstStyle/>
          <a:p>
            <a:r>
              <a:rPr sz="1050">
                <a:solidFill>
                  <a:srgbClr val="5C626E"/>
                </a:solidFill>
                <a:latin typeface="Aptos"/>
              </a:rPr>
              <a:t>How an insurer could use the analysis</a:t>
            </a:r>
          </a:p>
        </p:txBody>
      </p:sp>
      <p:sp>
        <p:nvSpPr>
          <p:cNvPr id="5" name="Rounded Rectangle 4"/>
          <p:cNvSpPr/>
          <p:nvPr/>
        </p:nvSpPr>
        <p:spPr>
          <a:xfrm>
            <a:off x="640080" y="1234440"/>
            <a:ext cx="3429000" cy="1508760"/>
          </a:xfrm>
          <a:prstGeom prst="roundRect">
            <a:avLst/>
          </a:prstGeom>
          <a:solidFill>
            <a:srgbClr val="FFFFFF"/>
          </a:solidFill>
          <a:ln w="15240">
            <a:solidFill>
              <a:srgbClr val="E0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234440"/>
            <a:ext cx="64008" cy="1508760"/>
          </a:xfrm>
          <a:prstGeom prst="rect">
            <a:avLst/>
          </a:prstGeom>
          <a:solidFill>
            <a:srgbClr val="16A0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1247" y="1380744"/>
            <a:ext cx="3108960" cy="365760"/>
          </a:xfrm>
          <a:prstGeom prst="rect">
            <a:avLst/>
          </a:prstGeom>
          <a:noFill/>
        </p:spPr>
        <p:txBody>
          <a:bodyPr wrap="none">
            <a:spAutoFit/>
          </a:bodyPr>
          <a:lstStyle/>
          <a:p>
            <a:r>
              <a:rPr sz="1400" b="1">
                <a:solidFill>
                  <a:srgbClr val="183A8A"/>
                </a:solidFill>
                <a:latin typeface="Aptos"/>
              </a:rPr>
              <a:t>Operational use</a:t>
            </a:r>
          </a:p>
        </p:txBody>
      </p:sp>
      <p:sp>
        <p:nvSpPr>
          <p:cNvPr id="8" name="TextBox 7"/>
          <p:cNvSpPr txBox="1"/>
          <p:nvPr/>
        </p:nvSpPr>
        <p:spPr>
          <a:xfrm>
            <a:off x="841247" y="1801368"/>
            <a:ext cx="3108960" cy="822959"/>
          </a:xfrm>
          <a:prstGeom prst="rect">
            <a:avLst/>
          </a:prstGeom>
          <a:noFill/>
        </p:spPr>
        <p:txBody>
          <a:bodyPr wrap="square">
            <a:spAutoFit/>
          </a:bodyPr>
          <a:lstStyle/>
          <a:p>
            <a:pPr>
              <a:defRPr sz="1150">
                <a:solidFill>
                  <a:srgbClr val="23262D"/>
                </a:solidFill>
                <a:latin typeface="Aptos"/>
              </a:defRPr>
            </a:pPr>
            <a:r>
              <a:t>Prioritize claims for review, monitor status mix, compare regions and understand workload patterns.</a:t>
            </a:r>
          </a:p>
        </p:txBody>
      </p:sp>
      <p:sp>
        <p:nvSpPr>
          <p:cNvPr id="9" name="Rounded Rectangle 8"/>
          <p:cNvSpPr/>
          <p:nvPr/>
        </p:nvSpPr>
        <p:spPr>
          <a:xfrm>
            <a:off x="4389120" y="1234440"/>
            <a:ext cx="3429000" cy="1508760"/>
          </a:xfrm>
          <a:prstGeom prst="roundRect">
            <a:avLst/>
          </a:prstGeom>
          <a:solidFill>
            <a:srgbClr val="FFFFFF"/>
          </a:solidFill>
          <a:ln w="15240">
            <a:solidFill>
              <a:srgbClr val="E0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89120" y="1234440"/>
            <a:ext cx="64008" cy="150876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90288" y="1380744"/>
            <a:ext cx="3108960" cy="365760"/>
          </a:xfrm>
          <a:prstGeom prst="rect">
            <a:avLst/>
          </a:prstGeom>
          <a:noFill/>
        </p:spPr>
        <p:txBody>
          <a:bodyPr wrap="none">
            <a:spAutoFit/>
          </a:bodyPr>
          <a:lstStyle/>
          <a:p>
            <a:r>
              <a:rPr sz="1400" b="1">
                <a:solidFill>
                  <a:srgbClr val="183A8A"/>
                </a:solidFill>
                <a:latin typeface="Aptos"/>
              </a:rPr>
              <a:t>Fraud prevention use</a:t>
            </a:r>
          </a:p>
        </p:txBody>
      </p:sp>
      <p:sp>
        <p:nvSpPr>
          <p:cNvPr id="12" name="TextBox 11"/>
          <p:cNvSpPr txBox="1"/>
          <p:nvPr/>
        </p:nvSpPr>
        <p:spPr>
          <a:xfrm>
            <a:off x="4590288" y="1801368"/>
            <a:ext cx="3108960" cy="822959"/>
          </a:xfrm>
          <a:prstGeom prst="rect">
            <a:avLst/>
          </a:prstGeom>
          <a:noFill/>
        </p:spPr>
        <p:txBody>
          <a:bodyPr wrap="square">
            <a:spAutoFit/>
          </a:bodyPr>
          <a:lstStyle/>
          <a:p>
            <a:pPr>
              <a:defRPr sz="1150">
                <a:solidFill>
                  <a:srgbClr val="23262D"/>
                </a:solidFill>
                <a:latin typeface="Aptos"/>
              </a:defRPr>
            </a:pPr>
            <a:r>
              <a:t>Surface segments with elevated fraud flags/risk indicators for investigation and rule-based follow-up.</a:t>
            </a:r>
          </a:p>
        </p:txBody>
      </p:sp>
      <p:sp>
        <p:nvSpPr>
          <p:cNvPr id="13" name="Rounded Rectangle 12"/>
          <p:cNvSpPr/>
          <p:nvPr/>
        </p:nvSpPr>
        <p:spPr>
          <a:xfrm>
            <a:off x="8138160" y="1234440"/>
            <a:ext cx="3429000" cy="1508760"/>
          </a:xfrm>
          <a:prstGeom prst="roundRect">
            <a:avLst/>
          </a:prstGeom>
          <a:solidFill>
            <a:srgbClr val="FFFFFF"/>
          </a:solidFill>
          <a:ln w="15240">
            <a:solidFill>
              <a:srgbClr val="E0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138160" y="1234440"/>
            <a:ext cx="64008" cy="1508760"/>
          </a:xfrm>
          <a:prstGeom prst="rect">
            <a:avLst/>
          </a:prstGeom>
          <a:solidFill>
            <a:srgbClr val="3498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39328" y="1380744"/>
            <a:ext cx="3108960" cy="365760"/>
          </a:xfrm>
          <a:prstGeom prst="rect">
            <a:avLst/>
          </a:prstGeom>
          <a:noFill/>
        </p:spPr>
        <p:txBody>
          <a:bodyPr wrap="none">
            <a:spAutoFit/>
          </a:bodyPr>
          <a:lstStyle/>
          <a:p>
            <a:r>
              <a:rPr sz="1400" b="1">
                <a:solidFill>
                  <a:srgbClr val="183A8A"/>
                </a:solidFill>
                <a:latin typeface="Aptos"/>
              </a:rPr>
              <a:t>Financial use</a:t>
            </a:r>
          </a:p>
        </p:txBody>
      </p:sp>
      <p:sp>
        <p:nvSpPr>
          <p:cNvPr id="16" name="TextBox 15"/>
          <p:cNvSpPr txBox="1"/>
          <p:nvPr/>
        </p:nvSpPr>
        <p:spPr>
          <a:xfrm>
            <a:off x="8339328" y="1801368"/>
            <a:ext cx="3108960" cy="822959"/>
          </a:xfrm>
          <a:prstGeom prst="rect">
            <a:avLst/>
          </a:prstGeom>
          <a:noFill/>
        </p:spPr>
        <p:txBody>
          <a:bodyPr wrap="square">
            <a:spAutoFit/>
          </a:bodyPr>
          <a:lstStyle/>
          <a:p>
            <a:pPr>
              <a:defRPr sz="1150">
                <a:solidFill>
                  <a:srgbClr val="23262D"/>
                </a:solidFill>
                <a:latin typeface="Aptos"/>
              </a:defRPr>
            </a:pPr>
            <a:r>
              <a:t>Compare claim amounts and premium amounts to understand exposure and portfolio patterns.</a:t>
            </a:r>
          </a:p>
        </p:txBody>
      </p:sp>
      <p:sp>
        <p:nvSpPr>
          <p:cNvPr id="17" name="Rounded Rectangle 16"/>
          <p:cNvSpPr/>
          <p:nvPr/>
        </p:nvSpPr>
        <p:spPr>
          <a:xfrm>
            <a:off x="640080" y="3154680"/>
            <a:ext cx="3429000" cy="1508760"/>
          </a:xfrm>
          <a:prstGeom prst="roundRect">
            <a:avLst/>
          </a:prstGeom>
          <a:solidFill>
            <a:srgbClr val="FFFFFF"/>
          </a:solidFill>
          <a:ln w="15240">
            <a:solidFill>
              <a:srgbClr val="E0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40080" y="3154680"/>
            <a:ext cx="64008" cy="1508760"/>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41247" y="3300984"/>
            <a:ext cx="3108960" cy="365760"/>
          </a:xfrm>
          <a:prstGeom prst="rect">
            <a:avLst/>
          </a:prstGeom>
          <a:noFill/>
        </p:spPr>
        <p:txBody>
          <a:bodyPr wrap="none">
            <a:spAutoFit/>
          </a:bodyPr>
          <a:lstStyle/>
          <a:p>
            <a:r>
              <a:rPr sz="1400" b="1">
                <a:solidFill>
                  <a:srgbClr val="183A8A"/>
                </a:solidFill>
                <a:latin typeface="Aptos"/>
              </a:rPr>
              <a:t>Potential losses if ignored</a:t>
            </a:r>
          </a:p>
        </p:txBody>
      </p:sp>
      <p:sp>
        <p:nvSpPr>
          <p:cNvPr id="20" name="TextBox 19"/>
          <p:cNvSpPr txBox="1"/>
          <p:nvPr/>
        </p:nvSpPr>
        <p:spPr>
          <a:xfrm>
            <a:off x="841247" y="3721608"/>
            <a:ext cx="3108960" cy="822959"/>
          </a:xfrm>
          <a:prstGeom prst="rect">
            <a:avLst/>
          </a:prstGeom>
          <a:noFill/>
        </p:spPr>
        <p:txBody>
          <a:bodyPr wrap="square">
            <a:spAutoFit/>
          </a:bodyPr>
          <a:lstStyle/>
          <a:p>
            <a:pPr>
              <a:defRPr sz="1150">
                <a:solidFill>
                  <a:srgbClr val="23262D"/>
                </a:solidFill>
                <a:latin typeface="Aptos"/>
              </a:defRPr>
            </a:pPr>
            <a:r>
              <a:t>Claim leakage, avoidable investigation cost, delayed settlement, customer dissatisfaction and reputational impact.</a:t>
            </a:r>
          </a:p>
        </p:txBody>
      </p:sp>
      <p:sp>
        <p:nvSpPr>
          <p:cNvPr id="21" name="Rounded Rectangle 20"/>
          <p:cNvSpPr/>
          <p:nvPr/>
        </p:nvSpPr>
        <p:spPr>
          <a:xfrm>
            <a:off x="4389120" y="3154680"/>
            <a:ext cx="3429000" cy="1508760"/>
          </a:xfrm>
          <a:prstGeom prst="roundRect">
            <a:avLst/>
          </a:prstGeom>
          <a:solidFill>
            <a:srgbClr val="FFFFFF"/>
          </a:solidFill>
          <a:ln w="15240">
            <a:solidFill>
              <a:srgbClr val="E0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389120" y="3154680"/>
            <a:ext cx="64008" cy="150876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90288" y="3300984"/>
            <a:ext cx="3108960" cy="365760"/>
          </a:xfrm>
          <a:prstGeom prst="rect">
            <a:avLst/>
          </a:prstGeom>
          <a:noFill/>
        </p:spPr>
        <p:txBody>
          <a:bodyPr wrap="none">
            <a:spAutoFit/>
          </a:bodyPr>
          <a:lstStyle/>
          <a:p>
            <a:r>
              <a:rPr sz="1400" b="1">
                <a:solidFill>
                  <a:srgbClr val="183A8A"/>
                </a:solidFill>
                <a:latin typeface="Aptos"/>
              </a:rPr>
              <a:t>Potential gain</a:t>
            </a:r>
          </a:p>
        </p:txBody>
      </p:sp>
      <p:sp>
        <p:nvSpPr>
          <p:cNvPr id="24" name="TextBox 23"/>
          <p:cNvSpPr txBox="1"/>
          <p:nvPr/>
        </p:nvSpPr>
        <p:spPr>
          <a:xfrm>
            <a:off x="4590288" y="3721608"/>
            <a:ext cx="3108960" cy="822959"/>
          </a:xfrm>
          <a:prstGeom prst="rect">
            <a:avLst/>
          </a:prstGeom>
          <a:noFill/>
        </p:spPr>
        <p:txBody>
          <a:bodyPr wrap="square">
            <a:spAutoFit/>
          </a:bodyPr>
          <a:lstStyle/>
          <a:p>
            <a:pPr>
              <a:defRPr sz="1150">
                <a:solidFill>
                  <a:srgbClr val="23262D"/>
                </a:solidFill>
                <a:latin typeface="Aptos"/>
              </a:defRPr>
            </a:pPr>
            <a:r>
              <a:t>Faster prioritization, more consistent monitoring, clearer management reporting and better use of analyst time.</a:t>
            </a:r>
          </a:p>
        </p:txBody>
      </p:sp>
      <p:sp>
        <p:nvSpPr>
          <p:cNvPr id="25" name="Rounded Rectangle 24"/>
          <p:cNvSpPr/>
          <p:nvPr/>
        </p:nvSpPr>
        <p:spPr>
          <a:xfrm>
            <a:off x="8138160" y="3154680"/>
            <a:ext cx="3429000" cy="1508760"/>
          </a:xfrm>
          <a:prstGeom prst="roundRect">
            <a:avLst/>
          </a:prstGeom>
          <a:solidFill>
            <a:srgbClr val="FFFFFF"/>
          </a:solidFill>
          <a:ln w="15240">
            <a:solidFill>
              <a:srgbClr val="E0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138160" y="3154680"/>
            <a:ext cx="64008" cy="1508760"/>
          </a:xfrm>
          <a:prstGeom prst="rect">
            <a:avLst/>
          </a:prstGeom>
          <a:solidFill>
            <a:srgbClr val="5B5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39328" y="3300984"/>
            <a:ext cx="3108960" cy="365760"/>
          </a:xfrm>
          <a:prstGeom prst="rect">
            <a:avLst/>
          </a:prstGeom>
          <a:noFill/>
        </p:spPr>
        <p:txBody>
          <a:bodyPr wrap="none">
            <a:spAutoFit/>
          </a:bodyPr>
          <a:lstStyle/>
          <a:p>
            <a:r>
              <a:rPr sz="1400" b="1">
                <a:solidFill>
                  <a:srgbClr val="183A8A"/>
                </a:solidFill>
                <a:latin typeface="Aptos"/>
              </a:rPr>
              <a:t>Example</a:t>
            </a:r>
          </a:p>
        </p:txBody>
      </p:sp>
      <p:sp>
        <p:nvSpPr>
          <p:cNvPr id="28" name="TextBox 27"/>
          <p:cNvSpPr txBox="1"/>
          <p:nvPr/>
        </p:nvSpPr>
        <p:spPr>
          <a:xfrm>
            <a:off x="8339328" y="3721608"/>
            <a:ext cx="3108960" cy="822959"/>
          </a:xfrm>
          <a:prstGeom prst="rect">
            <a:avLst/>
          </a:prstGeom>
          <a:noFill/>
        </p:spPr>
        <p:txBody>
          <a:bodyPr wrap="square">
            <a:spAutoFit/>
          </a:bodyPr>
          <a:lstStyle/>
          <a:p>
            <a:pPr>
              <a:defRPr sz="1150">
                <a:solidFill>
                  <a:srgbClr val="23262D"/>
                </a:solidFill>
                <a:latin typeface="Aptos"/>
              </a:defRPr>
            </a:pPr>
            <a:r>
              <a:t>If a region has many high-value claims and elevated risk indicators, the team can focus investigation capacity there first.</a:t>
            </a:r>
          </a:p>
        </p:txBody>
      </p:sp>
      <p:sp>
        <p:nvSpPr>
          <p:cNvPr id="29" name="Rectangle 28"/>
          <p:cNvSpPr/>
          <p:nvPr/>
        </p:nvSpPr>
        <p:spPr>
          <a:xfrm>
            <a:off x="594360" y="6510528"/>
            <a:ext cx="10972800" cy="9144"/>
          </a:xfrm>
          <a:prstGeom prst="rect">
            <a:avLst/>
          </a:prstGeom>
          <a:solidFill>
            <a:srgbClr val="E0E4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21792" y="6547104"/>
            <a:ext cx="9144000" cy="182880"/>
          </a:xfrm>
          <a:prstGeom prst="rect">
            <a:avLst/>
          </a:prstGeom>
          <a:noFill/>
        </p:spPr>
        <p:txBody>
          <a:bodyPr wrap="none">
            <a:spAutoFit/>
          </a:bodyPr>
          <a:lstStyle/>
          <a:p>
            <a:r>
              <a:rPr sz="800">
                <a:solidFill>
                  <a:srgbClr val="5C626E"/>
                </a:solidFill>
              </a:rPr>
              <a:t>Insurance Claims &amp; Fraud Analysis | Capstone Project</a:t>
            </a:r>
          </a:p>
        </p:txBody>
      </p:sp>
      <p:sp>
        <p:nvSpPr>
          <p:cNvPr id="31" name="TextBox 30"/>
          <p:cNvSpPr txBox="1"/>
          <p:nvPr/>
        </p:nvSpPr>
        <p:spPr>
          <a:xfrm>
            <a:off x="11155680" y="6519672"/>
            <a:ext cx="365760" cy="182880"/>
          </a:xfrm>
          <a:prstGeom prst="rect">
            <a:avLst/>
          </a:prstGeom>
          <a:noFill/>
        </p:spPr>
        <p:txBody>
          <a:bodyPr wrap="none">
            <a:spAutoFit/>
          </a:bodyPr>
          <a:lstStyle/>
          <a:p>
            <a:pPr algn="r"/>
            <a:r>
              <a:rPr sz="800">
                <a:solidFill>
                  <a:srgbClr val="5C626E"/>
                </a:solidFil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594360"/>
          </a:xfrm>
          <a:prstGeom prst="rect">
            <a:avLst/>
          </a:prstGeom>
          <a:noFill/>
        </p:spPr>
        <p:txBody>
          <a:bodyPr wrap="none">
            <a:spAutoFit/>
          </a:bodyPr>
          <a:lstStyle/>
          <a:p>
            <a:r>
              <a:rPr sz="2500" b="1">
                <a:solidFill>
                  <a:srgbClr val="183A8A"/>
                </a:solidFill>
                <a:latin typeface="Aptos Display"/>
              </a:rPr>
              <a:t>13. Limitations, Risks &amp; Controls</a:t>
            </a:r>
          </a:p>
        </p:txBody>
      </p:sp>
      <p:sp>
        <p:nvSpPr>
          <p:cNvPr id="4" name="TextBox 3"/>
          <p:cNvSpPr txBox="1"/>
          <p:nvPr/>
        </p:nvSpPr>
        <p:spPr>
          <a:xfrm>
            <a:off x="612648" y="896112"/>
            <a:ext cx="10789920" cy="320040"/>
          </a:xfrm>
          <a:prstGeom prst="rect">
            <a:avLst/>
          </a:prstGeom>
          <a:noFill/>
        </p:spPr>
        <p:txBody>
          <a:bodyPr wrap="none">
            <a:spAutoFit/>
          </a:bodyPr>
          <a:lstStyle/>
          <a:p>
            <a:r>
              <a:rPr sz="1050">
                <a:solidFill>
                  <a:srgbClr val="5C626E"/>
                </a:solidFill>
                <a:latin typeface="Aptos"/>
              </a:rPr>
              <a:t>What the current capstone does not claim</a:t>
            </a:r>
          </a:p>
        </p:txBody>
      </p:sp>
      <p:sp>
        <p:nvSpPr>
          <p:cNvPr id="5" name="Rounded Rectangle 4"/>
          <p:cNvSpPr/>
          <p:nvPr/>
        </p:nvSpPr>
        <p:spPr>
          <a:xfrm>
            <a:off x="685800" y="1280160"/>
            <a:ext cx="5074920" cy="1143000"/>
          </a:xfrm>
          <a:prstGeom prst="roundRect">
            <a:avLst/>
          </a:prstGeom>
          <a:solidFill>
            <a:srgbClr val="FFFFFF"/>
          </a:solidFill>
          <a:ln w="15240">
            <a:solidFill>
              <a:srgbClr val="E0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85800" y="1280160"/>
            <a:ext cx="64008" cy="114300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6968" y="1426463"/>
            <a:ext cx="4754880" cy="365760"/>
          </a:xfrm>
          <a:prstGeom prst="rect">
            <a:avLst/>
          </a:prstGeom>
          <a:noFill/>
        </p:spPr>
        <p:txBody>
          <a:bodyPr wrap="none">
            <a:spAutoFit/>
          </a:bodyPr>
          <a:lstStyle/>
          <a:p>
            <a:r>
              <a:rPr sz="1350" b="1">
                <a:solidFill>
                  <a:srgbClr val="183A8A"/>
                </a:solidFill>
                <a:latin typeface="Aptos"/>
              </a:rPr>
              <a:t>Data quality</a:t>
            </a:r>
          </a:p>
        </p:txBody>
      </p:sp>
      <p:sp>
        <p:nvSpPr>
          <p:cNvPr id="8" name="TextBox 7"/>
          <p:cNvSpPr txBox="1"/>
          <p:nvPr/>
        </p:nvSpPr>
        <p:spPr>
          <a:xfrm>
            <a:off x="886968" y="1847088"/>
            <a:ext cx="4754880" cy="457200"/>
          </a:xfrm>
          <a:prstGeom prst="rect">
            <a:avLst/>
          </a:prstGeom>
          <a:noFill/>
        </p:spPr>
        <p:txBody>
          <a:bodyPr wrap="square">
            <a:spAutoFit/>
          </a:bodyPr>
          <a:lstStyle/>
          <a:p>
            <a:pPr>
              <a:defRPr sz="1050">
                <a:solidFill>
                  <a:srgbClr val="23262D"/>
                </a:solidFill>
                <a:latin typeface="Aptos"/>
              </a:defRPr>
            </a:pPr>
            <a:r>
              <a:t>Dashboard conclusions depend on the quality, completeness and correctness of the source dataset.</a:t>
            </a:r>
          </a:p>
        </p:txBody>
      </p:sp>
      <p:sp>
        <p:nvSpPr>
          <p:cNvPr id="9" name="Rounded Rectangle 8"/>
          <p:cNvSpPr/>
          <p:nvPr/>
        </p:nvSpPr>
        <p:spPr>
          <a:xfrm>
            <a:off x="6217920" y="1280160"/>
            <a:ext cx="5074920" cy="1143000"/>
          </a:xfrm>
          <a:prstGeom prst="roundRect">
            <a:avLst/>
          </a:prstGeom>
          <a:solidFill>
            <a:srgbClr val="FFFFFF"/>
          </a:solidFill>
          <a:ln w="15240">
            <a:solidFill>
              <a:srgbClr val="E0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17920" y="1280160"/>
            <a:ext cx="64008" cy="1143000"/>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19088" y="1426463"/>
            <a:ext cx="4754880" cy="365760"/>
          </a:xfrm>
          <a:prstGeom prst="rect">
            <a:avLst/>
          </a:prstGeom>
          <a:noFill/>
        </p:spPr>
        <p:txBody>
          <a:bodyPr wrap="none">
            <a:spAutoFit/>
          </a:bodyPr>
          <a:lstStyle/>
          <a:p>
            <a:r>
              <a:rPr sz="1350" b="1">
                <a:solidFill>
                  <a:srgbClr val="183A8A"/>
                </a:solidFill>
                <a:latin typeface="Aptos"/>
              </a:rPr>
              <a:t>Fraud flag ≠ proof</a:t>
            </a:r>
          </a:p>
        </p:txBody>
      </p:sp>
      <p:sp>
        <p:nvSpPr>
          <p:cNvPr id="12" name="TextBox 11"/>
          <p:cNvSpPr txBox="1"/>
          <p:nvPr/>
        </p:nvSpPr>
        <p:spPr>
          <a:xfrm>
            <a:off x="6419088" y="1847088"/>
            <a:ext cx="4754880" cy="457200"/>
          </a:xfrm>
          <a:prstGeom prst="rect">
            <a:avLst/>
          </a:prstGeom>
          <a:noFill/>
        </p:spPr>
        <p:txBody>
          <a:bodyPr wrap="square">
            <a:spAutoFit/>
          </a:bodyPr>
          <a:lstStyle/>
          <a:p>
            <a:pPr>
              <a:defRPr sz="1050">
                <a:solidFill>
                  <a:srgbClr val="23262D"/>
                </a:solidFill>
                <a:latin typeface="Aptos"/>
              </a:defRPr>
            </a:pPr>
            <a:r>
              <a:t>Fraud_Flag is an input indicator. A flagged claim still needs investigation and evidence.</a:t>
            </a:r>
          </a:p>
        </p:txBody>
      </p:sp>
      <p:sp>
        <p:nvSpPr>
          <p:cNvPr id="13" name="Rounded Rectangle 12"/>
          <p:cNvSpPr/>
          <p:nvPr/>
        </p:nvSpPr>
        <p:spPr>
          <a:xfrm>
            <a:off x="685800" y="2788920"/>
            <a:ext cx="5074920" cy="1143000"/>
          </a:xfrm>
          <a:prstGeom prst="roundRect">
            <a:avLst/>
          </a:prstGeom>
          <a:solidFill>
            <a:srgbClr val="FFFFFF"/>
          </a:solidFill>
          <a:ln w="15240">
            <a:solidFill>
              <a:srgbClr val="E0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85800" y="2788920"/>
            <a:ext cx="64008" cy="1143000"/>
          </a:xfrm>
          <a:prstGeom prst="rect">
            <a:avLst/>
          </a:prstGeom>
          <a:solidFill>
            <a:srgbClr val="5B5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6968" y="2935224"/>
            <a:ext cx="4754880" cy="365760"/>
          </a:xfrm>
          <a:prstGeom prst="rect">
            <a:avLst/>
          </a:prstGeom>
          <a:noFill/>
        </p:spPr>
        <p:txBody>
          <a:bodyPr wrap="none">
            <a:spAutoFit/>
          </a:bodyPr>
          <a:lstStyle/>
          <a:p>
            <a:r>
              <a:rPr sz="1350" b="1">
                <a:solidFill>
                  <a:srgbClr val="183A8A"/>
                </a:solidFill>
                <a:latin typeface="Aptos"/>
              </a:rPr>
              <a:t>Descriptive analytics</a:t>
            </a:r>
          </a:p>
        </p:txBody>
      </p:sp>
      <p:sp>
        <p:nvSpPr>
          <p:cNvPr id="16" name="TextBox 15"/>
          <p:cNvSpPr txBox="1"/>
          <p:nvPr/>
        </p:nvSpPr>
        <p:spPr>
          <a:xfrm>
            <a:off x="886968" y="3355848"/>
            <a:ext cx="4754880" cy="457200"/>
          </a:xfrm>
          <a:prstGeom prst="rect">
            <a:avLst/>
          </a:prstGeom>
          <a:noFill/>
        </p:spPr>
        <p:txBody>
          <a:bodyPr wrap="square">
            <a:spAutoFit/>
          </a:bodyPr>
          <a:lstStyle/>
          <a:p>
            <a:pPr>
              <a:defRPr sz="1050">
                <a:solidFill>
                  <a:srgbClr val="23262D"/>
                </a:solidFill>
                <a:latin typeface="Aptos"/>
              </a:defRPr>
            </a:pPr>
            <a:r>
              <a:t>The project summarizes patterns; it does not include a production fraud ML model or causal inference.</a:t>
            </a:r>
          </a:p>
        </p:txBody>
      </p:sp>
      <p:sp>
        <p:nvSpPr>
          <p:cNvPr id="17" name="Rounded Rectangle 16"/>
          <p:cNvSpPr/>
          <p:nvPr/>
        </p:nvSpPr>
        <p:spPr>
          <a:xfrm>
            <a:off x="6217920" y="2788920"/>
            <a:ext cx="5074920" cy="1143000"/>
          </a:xfrm>
          <a:prstGeom prst="roundRect">
            <a:avLst/>
          </a:prstGeom>
          <a:solidFill>
            <a:srgbClr val="FFFFFF"/>
          </a:solidFill>
          <a:ln w="15240">
            <a:solidFill>
              <a:srgbClr val="E0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17920" y="2788920"/>
            <a:ext cx="64008" cy="1143000"/>
          </a:xfrm>
          <a:prstGeom prst="rect">
            <a:avLst/>
          </a:prstGeom>
          <a:solidFill>
            <a:srgbClr val="3498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19088" y="2935224"/>
            <a:ext cx="4754880" cy="365760"/>
          </a:xfrm>
          <a:prstGeom prst="rect">
            <a:avLst/>
          </a:prstGeom>
          <a:noFill/>
        </p:spPr>
        <p:txBody>
          <a:bodyPr wrap="none">
            <a:spAutoFit/>
          </a:bodyPr>
          <a:lstStyle/>
          <a:p>
            <a:r>
              <a:rPr sz="1350" b="1">
                <a:solidFill>
                  <a:srgbClr val="183A8A"/>
                </a:solidFill>
                <a:latin typeface="Aptos"/>
              </a:rPr>
              <a:t>Static snapshot</a:t>
            </a:r>
          </a:p>
        </p:txBody>
      </p:sp>
      <p:sp>
        <p:nvSpPr>
          <p:cNvPr id="20" name="TextBox 19"/>
          <p:cNvSpPr txBox="1"/>
          <p:nvPr/>
        </p:nvSpPr>
        <p:spPr>
          <a:xfrm>
            <a:off x="6419088" y="3355848"/>
            <a:ext cx="4754880" cy="457200"/>
          </a:xfrm>
          <a:prstGeom prst="rect">
            <a:avLst/>
          </a:prstGeom>
          <a:noFill/>
        </p:spPr>
        <p:txBody>
          <a:bodyPr wrap="square">
            <a:spAutoFit/>
          </a:bodyPr>
          <a:lstStyle/>
          <a:p>
            <a:pPr>
              <a:defRPr sz="1050">
                <a:solidFill>
                  <a:srgbClr val="23262D"/>
                </a:solidFill>
                <a:latin typeface="Aptos"/>
              </a:defRPr>
            </a:pPr>
            <a:r>
              <a:t>The captured dashboard is not a real-time claims monitoring system.</a:t>
            </a:r>
          </a:p>
        </p:txBody>
      </p:sp>
      <p:sp>
        <p:nvSpPr>
          <p:cNvPr id="21" name="Rounded Rectangle 20"/>
          <p:cNvSpPr/>
          <p:nvPr/>
        </p:nvSpPr>
        <p:spPr>
          <a:xfrm>
            <a:off x="685800" y="4297679"/>
            <a:ext cx="5074920" cy="1143000"/>
          </a:xfrm>
          <a:prstGeom prst="roundRect">
            <a:avLst/>
          </a:prstGeom>
          <a:solidFill>
            <a:srgbClr val="FFFFFF"/>
          </a:solidFill>
          <a:ln w="15240">
            <a:solidFill>
              <a:srgbClr val="E0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85800" y="4297679"/>
            <a:ext cx="64008" cy="1143000"/>
          </a:xfrm>
          <a:prstGeom prst="rect">
            <a:avLst/>
          </a:prstGeom>
          <a:solidFill>
            <a:srgbClr val="16A0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86968" y="4443983"/>
            <a:ext cx="4754880" cy="365760"/>
          </a:xfrm>
          <a:prstGeom prst="rect">
            <a:avLst/>
          </a:prstGeom>
          <a:noFill/>
        </p:spPr>
        <p:txBody>
          <a:bodyPr wrap="none">
            <a:spAutoFit/>
          </a:bodyPr>
          <a:lstStyle/>
          <a:p>
            <a:r>
              <a:rPr sz="1350" b="1">
                <a:solidFill>
                  <a:srgbClr val="183A8A"/>
                </a:solidFill>
                <a:latin typeface="Aptos"/>
              </a:rPr>
              <a:t>Privacy &amp; governance</a:t>
            </a:r>
          </a:p>
        </p:txBody>
      </p:sp>
      <p:sp>
        <p:nvSpPr>
          <p:cNvPr id="24" name="TextBox 23"/>
          <p:cNvSpPr txBox="1"/>
          <p:nvPr/>
        </p:nvSpPr>
        <p:spPr>
          <a:xfrm>
            <a:off x="886968" y="4864607"/>
            <a:ext cx="4754880" cy="457200"/>
          </a:xfrm>
          <a:prstGeom prst="rect">
            <a:avLst/>
          </a:prstGeom>
          <a:noFill/>
        </p:spPr>
        <p:txBody>
          <a:bodyPr wrap="square">
            <a:spAutoFit/>
          </a:bodyPr>
          <a:lstStyle/>
          <a:p>
            <a:pPr>
              <a:defRPr sz="1050">
                <a:solidFill>
                  <a:srgbClr val="23262D"/>
                </a:solidFill>
                <a:latin typeface="Aptos"/>
              </a:defRPr>
            </a:pPr>
            <a:r>
              <a:t>Real insurance deployment would require access controls, data minimization, audit trails and compliant handling of customer data.</a:t>
            </a:r>
          </a:p>
        </p:txBody>
      </p:sp>
      <p:sp>
        <p:nvSpPr>
          <p:cNvPr id="25" name="Rounded Rectangle 24"/>
          <p:cNvSpPr/>
          <p:nvPr/>
        </p:nvSpPr>
        <p:spPr>
          <a:xfrm>
            <a:off x="6217920" y="4297679"/>
            <a:ext cx="5074920" cy="1143000"/>
          </a:xfrm>
          <a:prstGeom prst="roundRect">
            <a:avLst/>
          </a:prstGeom>
          <a:solidFill>
            <a:srgbClr val="FFFFFF"/>
          </a:solidFill>
          <a:ln w="15240">
            <a:solidFill>
              <a:srgbClr val="E0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17920" y="4297679"/>
            <a:ext cx="64008" cy="1143000"/>
          </a:xfrm>
          <a:prstGeom prst="rect">
            <a:avLst/>
          </a:prstGeom>
          <a:solidFill>
            <a:srgbClr val="18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19088" y="4443983"/>
            <a:ext cx="4754880" cy="365760"/>
          </a:xfrm>
          <a:prstGeom prst="rect">
            <a:avLst/>
          </a:prstGeom>
          <a:noFill/>
        </p:spPr>
        <p:txBody>
          <a:bodyPr wrap="none">
            <a:spAutoFit/>
          </a:bodyPr>
          <a:lstStyle/>
          <a:p>
            <a:r>
              <a:rPr sz="1350" b="1">
                <a:solidFill>
                  <a:srgbClr val="183A8A"/>
                </a:solidFill>
                <a:latin typeface="Aptos"/>
              </a:rPr>
              <a:t>Threshold risk</a:t>
            </a:r>
          </a:p>
        </p:txBody>
      </p:sp>
      <p:sp>
        <p:nvSpPr>
          <p:cNvPr id="28" name="TextBox 27"/>
          <p:cNvSpPr txBox="1"/>
          <p:nvPr/>
        </p:nvSpPr>
        <p:spPr>
          <a:xfrm>
            <a:off x="6419088" y="4864607"/>
            <a:ext cx="4754880" cy="457200"/>
          </a:xfrm>
          <a:prstGeom prst="rect">
            <a:avLst/>
          </a:prstGeom>
          <a:noFill/>
        </p:spPr>
        <p:txBody>
          <a:bodyPr wrap="square">
            <a:spAutoFit/>
          </a:bodyPr>
          <a:lstStyle/>
          <a:p>
            <a:pPr>
              <a:defRPr sz="1050">
                <a:solidFill>
                  <a:srgbClr val="23262D"/>
                </a:solidFill>
                <a:latin typeface="Aptos"/>
              </a:defRPr>
            </a:pPr>
            <a:r>
              <a:t>Risk scores should not be used as a sole decision rule; thresholds require validation and business governance.</a:t>
            </a:r>
          </a:p>
        </p:txBody>
      </p:sp>
      <p:sp>
        <p:nvSpPr>
          <p:cNvPr id="29" name="Rounded Rectangle 28"/>
          <p:cNvSpPr/>
          <p:nvPr/>
        </p:nvSpPr>
        <p:spPr>
          <a:xfrm>
            <a:off x="685800" y="5897880"/>
            <a:ext cx="10607040" cy="411480"/>
          </a:xfrm>
          <a:prstGeom prst="roundRect">
            <a:avLst/>
          </a:prstGeom>
          <a:solidFill>
            <a:srgbClr val="FFFFFF"/>
          </a:solidFill>
          <a:ln w="15240">
            <a:solidFill>
              <a:srgbClr val="E0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85800" y="5897880"/>
            <a:ext cx="64008" cy="411480"/>
          </a:xfrm>
          <a:prstGeom prst="rect">
            <a:avLst/>
          </a:prstGeom>
          <a:solidFill>
            <a:srgbClr val="18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86968" y="6044184"/>
            <a:ext cx="10287000" cy="365760"/>
          </a:xfrm>
          <a:prstGeom prst="rect">
            <a:avLst/>
          </a:prstGeom>
          <a:noFill/>
        </p:spPr>
        <p:txBody>
          <a:bodyPr wrap="none">
            <a:spAutoFit/>
          </a:bodyPr>
          <a:lstStyle/>
          <a:p>
            <a:r>
              <a:rPr sz="1050" b="1">
                <a:solidFill>
                  <a:srgbClr val="183A8A"/>
                </a:solidFill>
                <a:latin typeface="Aptos"/>
              </a:rPr>
              <a:t>Control principle</a:t>
            </a:r>
          </a:p>
        </p:txBody>
      </p:sp>
      <p:sp>
        <p:nvSpPr>
          <p:cNvPr id="32" name="TextBox 31"/>
          <p:cNvSpPr txBox="1"/>
          <p:nvPr/>
        </p:nvSpPr>
        <p:spPr>
          <a:xfrm>
            <a:off x="886968" y="6464808"/>
            <a:ext cx="10287000" cy="-274320"/>
          </a:xfrm>
          <a:prstGeom prst="rect">
            <a:avLst/>
          </a:prstGeom>
          <a:noFill/>
        </p:spPr>
        <p:txBody>
          <a:bodyPr wrap="square">
            <a:spAutoFit/>
          </a:bodyPr>
          <a:lstStyle/>
          <a:p>
            <a:pPr>
              <a:defRPr sz="850">
                <a:solidFill>
                  <a:srgbClr val="23262D"/>
                </a:solidFill>
                <a:latin typeface="Aptos"/>
              </a:defRPr>
            </a:pPr>
            <a:r>
              <a:t>Use the dashboard to support human review and investigation—not to automate a final fraud verdict.</a:t>
            </a:r>
          </a:p>
        </p:txBody>
      </p:sp>
      <p:sp>
        <p:nvSpPr>
          <p:cNvPr id="33" name="Rectangle 32"/>
          <p:cNvSpPr/>
          <p:nvPr/>
        </p:nvSpPr>
        <p:spPr>
          <a:xfrm>
            <a:off x="594360" y="6510528"/>
            <a:ext cx="10972800" cy="9144"/>
          </a:xfrm>
          <a:prstGeom prst="rect">
            <a:avLst/>
          </a:prstGeom>
          <a:solidFill>
            <a:srgbClr val="E0E4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21792" y="6547104"/>
            <a:ext cx="9144000" cy="182880"/>
          </a:xfrm>
          <a:prstGeom prst="rect">
            <a:avLst/>
          </a:prstGeom>
          <a:noFill/>
        </p:spPr>
        <p:txBody>
          <a:bodyPr wrap="none">
            <a:spAutoFit/>
          </a:bodyPr>
          <a:lstStyle/>
          <a:p>
            <a:r>
              <a:rPr sz="800">
                <a:solidFill>
                  <a:srgbClr val="5C626E"/>
                </a:solidFill>
              </a:rPr>
              <a:t>Insurance Claims &amp; Fraud Analysis | Capstone Project</a:t>
            </a:r>
          </a:p>
        </p:txBody>
      </p:sp>
      <p:sp>
        <p:nvSpPr>
          <p:cNvPr id="35" name="TextBox 34"/>
          <p:cNvSpPr txBox="1"/>
          <p:nvPr/>
        </p:nvSpPr>
        <p:spPr>
          <a:xfrm>
            <a:off x="11155680" y="6519672"/>
            <a:ext cx="365760" cy="182880"/>
          </a:xfrm>
          <a:prstGeom prst="rect">
            <a:avLst/>
          </a:prstGeom>
          <a:noFill/>
        </p:spPr>
        <p:txBody>
          <a:bodyPr wrap="none">
            <a:spAutoFit/>
          </a:bodyPr>
          <a:lstStyle/>
          <a:p>
            <a:pPr algn="r"/>
            <a:r>
              <a:rPr sz="800">
                <a:solidFill>
                  <a:srgbClr val="5C626E"/>
                </a:solidFil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594360"/>
          </a:xfrm>
          <a:prstGeom prst="rect">
            <a:avLst/>
          </a:prstGeom>
          <a:noFill/>
        </p:spPr>
        <p:txBody>
          <a:bodyPr wrap="none">
            <a:spAutoFit/>
          </a:bodyPr>
          <a:lstStyle/>
          <a:p>
            <a:r>
              <a:rPr sz="2500" b="1">
                <a:solidFill>
                  <a:srgbClr val="183A8A"/>
                </a:solidFill>
                <a:latin typeface="Aptos Display"/>
              </a:rPr>
              <a:t>14. Conclusion &amp; Future Scope</a:t>
            </a:r>
          </a:p>
        </p:txBody>
      </p:sp>
      <p:sp>
        <p:nvSpPr>
          <p:cNvPr id="4" name="TextBox 3"/>
          <p:cNvSpPr txBox="1"/>
          <p:nvPr/>
        </p:nvSpPr>
        <p:spPr>
          <a:xfrm>
            <a:off x="612648" y="896112"/>
            <a:ext cx="10789920" cy="320040"/>
          </a:xfrm>
          <a:prstGeom prst="rect">
            <a:avLst/>
          </a:prstGeom>
          <a:noFill/>
        </p:spPr>
        <p:txBody>
          <a:bodyPr wrap="none">
            <a:spAutoFit/>
          </a:bodyPr>
          <a:lstStyle/>
          <a:p>
            <a:r>
              <a:rPr sz="1050">
                <a:solidFill>
                  <a:srgbClr val="5C626E"/>
                </a:solidFill>
                <a:latin typeface="Aptos"/>
              </a:rPr>
              <a:t>From a capstone dashboard to a scalable analytics solution</a:t>
            </a:r>
          </a:p>
        </p:txBody>
      </p:sp>
      <p:sp>
        <p:nvSpPr>
          <p:cNvPr id="5" name="Rounded Rectangle 4"/>
          <p:cNvSpPr/>
          <p:nvPr/>
        </p:nvSpPr>
        <p:spPr>
          <a:xfrm>
            <a:off x="640080" y="1234440"/>
            <a:ext cx="3429000" cy="1828800"/>
          </a:xfrm>
          <a:prstGeom prst="roundRect">
            <a:avLst/>
          </a:prstGeom>
          <a:solidFill>
            <a:srgbClr val="FFFFFF"/>
          </a:solidFill>
          <a:ln w="15240">
            <a:solidFill>
              <a:srgbClr val="E0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234440"/>
            <a:ext cx="64008" cy="1828800"/>
          </a:xfrm>
          <a:prstGeom prst="rect">
            <a:avLst/>
          </a:prstGeom>
          <a:solidFill>
            <a:srgbClr val="5B5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1247" y="1380744"/>
            <a:ext cx="3108960" cy="365760"/>
          </a:xfrm>
          <a:prstGeom prst="rect">
            <a:avLst/>
          </a:prstGeom>
          <a:noFill/>
        </p:spPr>
        <p:txBody>
          <a:bodyPr wrap="none">
            <a:spAutoFit/>
          </a:bodyPr>
          <a:lstStyle/>
          <a:p>
            <a:r>
              <a:rPr sz="1400" b="1">
                <a:solidFill>
                  <a:srgbClr val="183A8A"/>
                </a:solidFill>
                <a:latin typeface="Aptos"/>
              </a:rPr>
              <a:t>What was achieved</a:t>
            </a:r>
          </a:p>
        </p:txBody>
      </p:sp>
      <p:sp>
        <p:nvSpPr>
          <p:cNvPr id="8" name="TextBox 7"/>
          <p:cNvSpPr txBox="1"/>
          <p:nvPr/>
        </p:nvSpPr>
        <p:spPr>
          <a:xfrm>
            <a:off x="841247" y="1801368"/>
            <a:ext cx="3108960" cy="1143000"/>
          </a:xfrm>
          <a:prstGeom prst="rect">
            <a:avLst/>
          </a:prstGeom>
          <a:noFill/>
        </p:spPr>
        <p:txBody>
          <a:bodyPr wrap="square">
            <a:spAutoFit/>
          </a:bodyPr>
          <a:lstStyle/>
          <a:p>
            <a:pPr>
              <a:defRPr sz="1100">
                <a:solidFill>
                  <a:srgbClr val="23262D"/>
                </a:solidFill>
                <a:latin typeface="Aptos"/>
              </a:defRPr>
            </a:pPr>
            <a:r>
              <a:t>• Built SQL analysis from basic queries to window functions.</a:t>
            </a:r>
            <a:br/>
            <a:r>
              <a:t>• Created reusable views and stored procedures.</a:t>
            </a:r>
            <a:br/>
            <a:r>
              <a:t>• Built two Power BI pages: Executive Dashboard and Risk Analysis.</a:t>
            </a:r>
            <a:br/>
            <a:r>
              <a:t>• Added KPIs, slicers, category labels and consistent visual design.</a:t>
            </a:r>
          </a:p>
        </p:txBody>
      </p:sp>
      <p:sp>
        <p:nvSpPr>
          <p:cNvPr id="9" name="Rounded Rectangle 8"/>
          <p:cNvSpPr/>
          <p:nvPr/>
        </p:nvSpPr>
        <p:spPr>
          <a:xfrm>
            <a:off x="4389120" y="1234440"/>
            <a:ext cx="3429000" cy="1828800"/>
          </a:xfrm>
          <a:prstGeom prst="roundRect">
            <a:avLst/>
          </a:prstGeom>
          <a:solidFill>
            <a:srgbClr val="FFFFFF"/>
          </a:solidFill>
          <a:ln w="15240">
            <a:solidFill>
              <a:srgbClr val="E0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89120" y="1234440"/>
            <a:ext cx="64008" cy="1828800"/>
          </a:xfrm>
          <a:prstGeom prst="rect">
            <a:avLst/>
          </a:prstGeom>
          <a:solidFill>
            <a:srgbClr val="16A0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90288" y="1380744"/>
            <a:ext cx="3108960" cy="365760"/>
          </a:xfrm>
          <a:prstGeom prst="rect">
            <a:avLst/>
          </a:prstGeom>
          <a:noFill/>
        </p:spPr>
        <p:txBody>
          <a:bodyPr wrap="none">
            <a:spAutoFit/>
          </a:bodyPr>
          <a:lstStyle/>
          <a:p>
            <a:r>
              <a:rPr sz="1400" b="1">
                <a:solidFill>
                  <a:srgbClr val="183A8A"/>
                </a:solidFill>
                <a:latin typeface="Aptos"/>
              </a:rPr>
              <a:t>Business value</a:t>
            </a:r>
          </a:p>
        </p:txBody>
      </p:sp>
      <p:sp>
        <p:nvSpPr>
          <p:cNvPr id="12" name="TextBox 11"/>
          <p:cNvSpPr txBox="1"/>
          <p:nvPr/>
        </p:nvSpPr>
        <p:spPr>
          <a:xfrm>
            <a:off x="4590288" y="1801368"/>
            <a:ext cx="3108960" cy="1143000"/>
          </a:xfrm>
          <a:prstGeom prst="rect">
            <a:avLst/>
          </a:prstGeom>
          <a:noFill/>
        </p:spPr>
        <p:txBody>
          <a:bodyPr wrap="square">
            <a:spAutoFit/>
          </a:bodyPr>
          <a:lstStyle/>
          <a:p>
            <a:pPr>
              <a:defRPr sz="1100">
                <a:solidFill>
                  <a:srgbClr val="23262D"/>
                </a:solidFill>
                <a:latin typeface="Aptos"/>
              </a:defRPr>
            </a:pPr>
            <a:r>
              <a:t>• Faster pattern discovery</a:t>
            </a:r>
            <a:br/>
            <a:r>
              <a:t>• Better claim segmentation</a:t>
            </a:r>
            <a:br/>
            <a:r>
              <a:t>• Clearer management reporting</a:t>
            </a:r>
            <a:br/>
            <a:r>
              <a:t>• More focused fraud investigation</a:t>
            </a:r>
            <a:br/>
            <a:r>
              <a:t>• Repeatable analytical workflow</a:t>
            </a:r>
          </a:p>
        </p:txBody>
      </p:sp>
      <p:sp>
        <p:nvSpPr>
          <p:cNvPr id="13" name="Rounded Rectangle 12"/>
          <p:cNvSpPr/>
          <p:nvPr/>
        </p:nvSpPr>
        <p:spPr>
          <a:xfrm>
            <a:off x="8138160" y="1234440"/>
            <a:ext cx="3429000" cy="1828800"/>
          </a:xfrm>
          <a:prstGeom prst="roundRect">
            <a:avLst/>
          </a:prstGeom>
          <a:solidFill>
            <a:srgbClr val="FFFFFF"/>
          </a:solidFill>
          <a:ln w="15240">
            <a:solidFill>
              <a:srgbClr val="E0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138160" y="1234440"/>
            <a:ext cx="64008" cy="1828800"/>
          </a:xfrm>
          <a:prstGeom prst="rect">
            <a:avLst/>
          </a:prstGeom>
          <a:solidFill>
            <a:srgbClr val="3498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39328" y="1380744"/>
            <a:ext cx="3108960" cy="365760"/>
          </a:xfrm>
          <a:prstGeom prst="rect">
            <a:avLst/>
          </a:prstGeom>
          <a:noFill/>
        </p:spPr>
        <p:txBody>
          <a:bodyPr wrap="none">
            <a:spAutoFit/>
          </a:bodyPr>
          <a:lstStyle/>
          <a:p>
            <a:r>
              <a:rPr sz="1400" b="1">
                <a:solidFill>
                  <a:srgbClr val="183A8A"/>
                </a:solidFill>
                <a:latin typeface="Aptos"/>
              </a:rPr>
              <a:t>Future scope</a:t>
            </a:r>
          </a:p>
        </p:txBody>
      </p:sp>
      <p:sp>
        <p:nvSpPr>
          <p:cNvPr id="16" name="TextBox 15"/>
          <p:cNvSpPr txBox="1"/>
          <p:nvPr/>
        </p:nvSpPr>
        <p:spPr>
          <a:xfrm>
            <a:off x="8339328" y="1801368"/>
            <a:ext cx="3108960" cy="1143000"/>
          </a:xfrm>
          <a:prstGeom prst="rect">
            <a:avLst/>
          </a:prstGeom>
          <a:noFill/>
        </p:spPr>
        <p:txBody>
          <a:bodyPr wrap="square">
            <a:spAutoFit/>
          </a:bodyPr>
          <a:lstStyle/>
          <a:p>
            <a:pPr>
              <a:defRPr sz="1100">
                <a:solidFill>
                  <a:srgbClr val="23262D"/>
                </a:solidFill>
                <a:latin typeface="Aptos"/>
              </a:defRPr>
            </a:pPr>
            <a:r>
              <a:t>• Add time-series claim trends</a:t>
            </a:r>
            <a:br/>
            <a:r>
              <a:t>• Add drill-through claim detail</a:t>
            </a:r>
            <a:br/>
            <a:r>
              <a:t>• Add automated alerts</a:t>
            </a:r>
            <a:br/>
            <a:r>
              <a:t>• Add validated ML fraud prediction</a:t>
            </a:r>
            <a:br/>
            <a:r>
              <a:t>• Add role-based security and refresh pipelines</a:t>
            </a:r>
          </a:p>
        </p:txBody>
      </p:sp>
      <p:sp>
        <p:nvSpPr>
          <p:cNvPr id="17" name="Rounded Rectangle 16"/>
          <p:cNvSpPr/>
          <p:nvPr/>
        </p:nvSpPr>
        <p:spPr>
          <a:xfrm>
            <a:off x="640080" y="3474720"/>
            <a:ext cx="10927080" cy="1143000"/>
          </a:xfrm>
          <a:prstGeom prst="roundRect">
            <a:avLst/>
          </a:prstGeom>
          <a:solidFill>
            <a:srgbClr val="FFFFFF"/>
          </a:solidFill>
          <a:ln w="15240">
            <a:solidFill>
              <a:srgbClr val="E0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40080" y="3474720"/>
            <a:ext cx="64008" cy="1143000"/>
          </a:xfrm>
          <a:prstGeom prst="rect">
            <a:avLst/>
          </a:prstGeom>
          <a:solidFill>
            <a:srgbClr val="18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41247" y="3621024"/>
            <a:ext cx="10607040" cy="365760"/>
          </a:xfrm>
          <a:prstGeom prst="rect">
            <a:avLst/>
          </a:prstGeom>
          <a:noFill/>
        </p:spPr>
        <p:txBody>
          <a:bodyPr wrap="none">
            <a:spAutoFit/>
          </a:bodyPr>
          <a:lstStyle/>
          <a:p>
            <a:r>
              <a:rPr sz="1400" b="1">
                <a:solidFill>
                  <a:srgbClr val="183A8A"/>
                </a:solidFill>
                <a:latin typeface="Aptos"/>
              </a:rPr>
              <a:t>One-minute project explanation</a:t>
            </a:r>
          </a:p>
        </p:txBody>
      </p:sp>
      <p:sp>
        <p:nvSpPr>
          <p:cNvPr id="20" name="TextBox 19"/>
          <p:cNvSpPr txBox="1"/>
          <p:nvPr/>
        </p:nvSpPr>
        <p:spPr>
          <a:xfrm>
            <a:off x="841247" y="4041648"/>
            <a:ext cx="10607040" cy="457200"/>
          </a:xfrm>
          <a:prstGeom prst="rect">
            <a:avLst/>
          </a:prstGeom>
          <a:noFill/>
        </p:spPr>
        <p:txBody>
          <a:bodyPr wrap="square">
            <a:spAutoFit/>
          </a:bodyPr>
          <a:lstStyle/>
          <a:p>
            <a:pPr>
              <a:defRPr sz="1150">
                <a:solidFill>
                  <a:srgbClr val="23262D"/>
                </a:solidFill>
                <a:latin typeface="Aptos"/>
              </a:defRPr>
            </a:pPr>
            <a:r>
              <a:t>“I built an Insurance Claims &amp; Fraud Analysis solution using SQL and Power BI. SQL was used to clean, aggregate, rank and segment claims, while Power BI converted the analysis into interactive Executive and Risk dashboards. The solution helps identify patterns in claim volume, financial exposure, status, region, type, fraud flags and risk scores so analysts can prioritize investigation and make better decisions.”</a:t>
            </a:r>
          </a:p>
        </p:txBody>
      </p:sp>
      <p:sp>
        <p:nvSpPr>
          <p:cNvPr id="21" name="Rounded Rectangle 20"/>
          <p:cNvSpPr/>
          <p:nvPr/>
        </p:nvSpPr>
        <p:spPr>
          <a:xfrm>
            <a:off x="4343400" y="5074920"/>
            <a:ext cx="3474720" cy="731520"/>
          </a:xfrm>
          <a:prstGeom prst="roundRect">
            <a:avLst/>
          </a:prstGeom>
          <a:solidFill>
            <a:srgbClr val="3F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80560" y="5239512"/>
            <a:ext cx="3200400" cy="320040"/>
          </a:xfrm>
          <a:prstGeom prst="rect">
            <a:avLst/>
          </a:prstGeom>
          <a:noFill/>
        </p:spPr>
        <p:txBody>
          <a:bodyPr wrap="none">
            <a:spAutoFit/>
          </a:bodyPr>
          <a:lstStyle/>
          <a:p>
            <a:pPr algn="ctr"/>
            <a:r>
              <a:rPr sz="1800" b="1">
                <a:solidFill>
                  <a:srgbClr val="FFFFFF"/>
                </a:solidFill>
              </a:rPr>
              <a:t>Thank You • Questions?</a:t>
            </a:r>
          </a:p>
        </p:txBody>
      </p:sp>
      <p:sp>
        <p:nvSpPr>
          <p:cNvPr id="23" name="Rectangle 22"/>
          <p:cNvSpPr/>
          <p:nvPr/>
        </p:nvSpPr>
        <p:spPr>
          <a:xfrm>
            <a:off x="594360" y="6510528"/>
            <a:ext cx="10972800" cy="9144"/>
          </a:xfrm>
          <a:prstGeom prst="rect">
            <a:avLst/>
          </a:prstGeom>
          <a:solidFill>
            <a:srgbClr val="E0E4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21792" y="6547104"/>
            <a:ext cx="9144000" cy="182880"/>
          </a:xfrm>
          <a:prstGeom prst="rect">
            <a:avLst/>
          </a:prstGeom>
          <a:noFill/>
        </p:spPr>
        <p:txBody>
          <a:bodyPr wrap="none">
            <a:spAutoFit/>
          </a:bodyPr>
          <a:lstStyle/>
          <a:p>
            <a:r>
              <a:rPr sz="800">
                <a:solidFill>
                  <a:srgbClr val="5C626E"/>
                </a:solidFill>
              </a:rPr>
              <a:t>Insurance Claims &amp; Fraud Analysis | Capstone Project</a:t>
            </a:r>
          </a:p>
        </p:txBody>
      </p:sp>
      <p:sp>
        <p:nvSpPr>
          <p:cNvPr id="25" name="TextBox 24"/>
          <p:cNvSpPr txBox="1"/>
          <p:nvPr/>
        </p:nvSpPr>
        <p:spPr>
          <a:xfrm>
            <a:off x="11155680" y="6519672"/>
            <a:ext cx="365760" cy="182880"/>
          </a:xfrm>
          <a:prstGeom prst="rect">
            <a:avLst/>
          </a:prstGeom>
          <a:noFill/>
        </p:spPr>
        <p:txBody>
          <a:bodyPr wrap="none">
            <a:spAutoFit/>
          </a:bodyPr>
          <a:lstStyle/>
          <a:p>
            <a:pPr algn="r"/>
            <a:r>
              <a:rPr sz="800">
                <a:solidFill>
                  <a:srgbClr val="5C626E"/>
                </a:solidFill>
              </a:rPr>
              <a:t>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